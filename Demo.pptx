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8daf50fbba492d" /><Relationship Type="http://schemas.openxmlformats.org/officeDocument/2006/relationships/extended-properties" Target="/docProps/app.xml" Id="Rd6f3a3993b014015" /><Relationship Type="http://schemas.openxmlformats.org/officeDocument/2006/relationships/officeDocument" Target="/ppt/presentation.xml" Id="R5b4370dd14464ff7" /></Relationships>
</file>

<file path=ppt/presentation.xml><?xml version="1.0" encoding="utf-8"?>
<p:presentation xmlns:p="http://schemas.openxmlformats.org/presentationml/2006/main">
  <p:sldMasterIdLst>
    <p:sldMasterId xmlns:r="http://schemas.openxmlformats.org/officeDocument/2006/relationships" id="2147483648" r:id="R828aa71dacce4d98"/>
  </p:sldMasterIdLst>
  <p:notesMasterIdLst>
    <p:notesMasterId xmlns:r="http://schemas.openxmlformats.org/officeDocument/2006/relationships" r:id="Rb213b26ed6fd4e57"/>
  </p:notesMasterIdLst>
  <p:sldIdLst>
    <p:sldId xmlns:r="http://schemas.openxmlformats.org/officeDocument/2006/relationships" id="256" r:id="R0736ca605dd747fd"/>
    <p:sldId xmlns:r="http://schemas.openxmlformats.org/officeDocument/2006/relationships" id="257" r:id="R6f6c7e810f284bf7"/>
    <p:sldId xmlns:r="http://schemas.openxmlformats.org/officeDocument/2006/relationships" id="258" r:id="Rde4ade5e78d14d08"/>
    <p:sldId xmlns:r="http://schemas.openxmlformats.org/officeDocument/2006/relationships" id="259" r:id="R8e5cf7e658ef4fa5"/>
    <p:sldId xmlns:r="http://schemas.openxmlformats.org/officeDocument/2006/relationships" id="260" r:id="Ra39a0ec4e3fa4bad"/>
    <p:sldId xmlns:r="http://schemas.openxmlformats.org/officeDocument/2006/relationships" id="261" r:id="R2f2f5e2b0c8c40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7572d1912c41d6" /><Relationship Type="http://schemas.openxmlformats.org/officeDocument/2006/relationships/slideMaster" Target="/ppt/slideMasters/slideMaster1.xml" Id="R828aa71dacce4d98" /><Relationship Type="http://schemas.openxmlformats.org/officeDocument/2006/relationships/notesMaster" Target="/ppt/notesMasters/notesMaster1.xml" Id="Rb213b26ed6fd4e57" /><Relationship Type="http://schemas.openxmlformats.org/officeDocument/2006/relationships/presProps" Target="/ppt/presProps.xml" Id="Redc06e8f4cc941a3" /><Relationship Type="http://schemas.openxmlformats.org/officeDocument/2006/relationships/tableStyles" Target="/ppt/tableStyles.xml" Id="R0f585e574a57423e" /><Relationship Type="http://schemas.openxmlformats.org/officeDocument/2006/relationships/slide" Target="/ppt/slides/slide1.xml" Id="R0736ca605dd747fd" /><Relationship Type="http://schemas.openxmlformats.org/officeDocument/2006/relationships/slide" Target="/ppt/slides/slide2.xml" Id="R6f6c7e810f284bf7" /><Relationship Type="http://schemas.openxmlformats.org/officeDocument/2006/relationships/slide" Target="/ppt/slides/slide3.xml" Id="Rde4ade5e78d14d08" /><Relationship Type="http://schemas.openxmlformats.org/officeDocument/2006/relationships/slide" Target="/ppt/slides/slide4.xml" Id="R8e5cf7e658ef4fa5" /><Relationship Type="http://schemas.openxmlformats.org/officeDocument/2006/relationships/slide" Target="/ppt/slides/slide5.xml" Id="Ra39a0ec4e3fa4bad" /><Relationship Type="http://schemas.openxmlformats.org/officeDocument/2006/relationships/slide" Target="/ppt/slides/slide6.xml" Id="R2f2f5e2b0c8c40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04e33d0f3b43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f0205a43b64cf5" /><Relationship Type="http://schemas.openxmlformats.org/officeDocument/2006/relationships/notesMaster" Target="/ppt/notesMasters/notesMaster1.xml" Id="R3428065b64fc45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19ca9bf90a4b48" /><Relationship Type="http://schemas.openxmlformats.org/officeDocument/2006/relationships/notesMaster" Target="/ppt/notesMasters/notesMaster1.xml" Id="Ref9b60aced234b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ddb36577d943d2" /><Relationship Type="http://schemas.openxmlformats.org/officeDocument/2006/relationships/notesMaster" Target="/ppt/notesMasters/notesMaster1.xml" Id="R4db3c2c4ce1848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4e86a2049142fa" /><Relationship Type="http://schemas.openxmlformats.org/officeDocument/2006/relationships/notesMaster" Target="/ppt/notesMasters/notesMaster1.xml" Id="Rc9551b8014224e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53ce03e0ca4409" /><Relationship Type="http://schemas.openxmlformats.org/officeDocument/2006/relationships/notesMaster" Target="/ppt/notesMasters/notesMaster1.xml" Id="R1a34f7b3ddac43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5c24b87d094e87" /><Relationship Type="http://schemas.openxmlformats.org/officeDocument/2006/relationships/notesMaster" Target="/ppt/notesMasters/notesMaster1.xml" Id="R3d033d366b8241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from the user path: browser to the internet-facing ALB, then Kubernetes Ingress and the three services. The Product and Order services run as Pods on EKS worker nodes and connect to private RDS. Then explain the delivery path: GitHub Actions uses OIDC, pushes images to ECR, and deploys to EKS. CloudWatch receives logs and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read every line. Explain the trade-offs: service separation allows independent scaling; a parameterized Dockerfile avoids three near-identical builds; Docker Compose gives a reproducible local environment; private RDS reduces exposure; OIDC removes long-lived AWS 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two workflow files after this slide. For infrastructure, explain why the saved Terraform plan matters. For application delivery, show the test steps first, then image tags, ECR push, manifest apply, and rollout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switch to VS Code or the GitHub repository. Start with Dockerfile and Compose, then show one Product or Order API file, then the test folder. Next show Kubernetes manifests, Terraform main.tf, and finally the two workflow files. Do not read every source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two terminals: one watches HPA and the other watches Pods. Start the BusyBox load generator and show Product reach three replicas. Remove the generator and show scale-down. Then delete one Product Pod and show the Deployment create its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candid: the working demo covers the requested platform capabilities. Due to the timebox, a few AWS setup items remain manual and some production controls remain roadmap work. Explain the order: repeatability first, then security and availability, then operations and delivery maturity.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f2c282bc5e43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e7e4031471405c" /><Relationship Type="http://schemas.openxmlformats.org/officeDocument/2006/relationships/slideLayout" Target="/ppt/slideLayouts/slideLayout1.xml" Id="R3510ef67b7aa4d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10ef67b7aa4d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09a21e203648fc" /><Relationship Type="http://schemas.openxmlformats.org/officeDocument/2006/relationships/image" Target="/ppt/media/image.jpeg" Id="Re1d3939107ba499a" /><Relationship Type="http://schemas.openxmlformats.org/officeDocument/2006/relationships/notesSlide" Target="/ppt/notesSlides/notesSlide1.xml" Id="Rc0af4046d00e45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566bd922dc4a38" /><Relationship Type="http://schemas.openxmlformats.org/officeDocument/2006/relationships/notesSlide" Target="/ppt/notesSlides/notesSlide2.xml" Id="R19c52780a98341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d0e62bbe3548f6" /><Relationship Type="http://schemas.openxmlformats.org/officeDocument/2006/relationships/notesSlide" Target="/ppt/notesSlides/notesSlide3.xml" Id="Rc7a3bb465ffc43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4d12233901b4bf5" /><Relationship Type="http://schemas.openxmlformats.org/officeDocument/2006/relationships/notesSlide" Target="/ppt/notesSlides/notesSlide4.xml" Id="R875db2e06e704e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e4b08faf9c48fb" /><Relationship Type="http://schemas.openxmlformats.org/officeDocument/2006/relationships/notesSlide" Target="/ppt/notesSlides/notesSlide5.xml" Id="R0663b17392d54b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975cb3316a4900" /><Relationship Type="http://schemas.openxmlformats.org/officeDocument/2006/relationships/notesSlide" Target="/ppt/notesSlides/notesSlide6.xml" Id="Rb4e1590ffcf2481d" /></Relationships>
</file>

<file path=ppt/slides/slide1.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51EB76-F913-46E6-B213-6B71B6F5E8E8}"/>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6A7450-B0D8-4435-B4EB-E9FEE0AF7687}"/>
              </a:ext>
            </a:extLst>
          </p:cNvPr>
          <p:cNvSpPr>
            <a:spLocks xmlns:a="http://schemas.openxmlformats.org/drawingml/2006/main" noGrp="1"/>
          </p:cNvSpPr>
          <p:nvPr/>
        </p:nvSpPr>
        <p:spPr>
          <a:xfrm xmlns:a="http://schemas.openxmlformats.org/drawingml/2006/main">
            <a:off x="647700" y="4000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203C55"/>
                </a:solidFill>
                <a:latin typeface="Bitstream Charter"/>
                <a:ea typeface="Bitstream Charter"/>
                <a:cs typeface="Bitstream Charter"/>
              </a:defRPr>
            </a:pPr>
            <a:r>
              <a:rPr sz="2550" b="1">
                <a:solidFill>
                  <a:srgbClr val="203C55"/>
                </a:solidFill>
                <a:latin typeface="Bitstream Charter"/>
                <a:ea typeface="Bitstream Charter"/>
                <a:cs typeface="Bitstream Charter"/>
              </a:rPr>
              <a:t>Architecture</a:t>
            </a:r>
          </a:p>
        </p:txBody>
      </p:sp>
      <p:sp>
        <p:nvSpPr>
          <p:cNvPr id="3" name="">
            <a:extLst xmlns:a="http://schemas.openxmlformats.org/drawingml/2006/main">
              <a:ext uri="{FF2B5EF4-FFF2-40B4-BE49-F238E27FC236}">
                <a16:creationId xmlns:a16="http://schemas.microsoft.com/office/drawing/2014/main" id="{31BB7BF6-2751-4D5D-9230-61DBBDE8B484}"/>
              </a:ext>
            </a:extLst>
          </p:cNvPr>
          <p:cNvSpPr>
            <a:spLocks xmlns:a="http://schemas.openxmlformats.org/drawingml/2006/main" noGrp="1"/>
          </p:cNvSpPr>
          <p:nvPr/>
        </p:nvSpPr>
        <p:spPr>
          <a:xfrm xmlns:a="http://schemas.openxmlformats.org/drawingml/2006/main">
            <a:off x="647700" y="962025"/>
            <a:ext cx="1047750" cy="38100"/>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AC16681-E007-40EF-BE4E-DA6AF311D7EB}"/>
              </a:ext>
            </a:extLst>
          </p:cNvPr>
          <p:cNvSpPr>
            <a:spLocks xmlns:a="http://schemas.openxmlformats.org/drawingml/2006/main" noGrp="1"/>
          </p:cNvSpPr>
          <p:nvPr/>
        </p:nvSpPr>
        <p:spPr>
          <a:xfrm xmlns:a="http://schemas.openxmlformats.org/drawingml/2006/main">
            <a:off x="647700" y="64865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08296"/>
                </a:solidFill>
                <a:latin typeface="Bitstream Charter"/>
                <a:ea typeface="Bitstream Charter"/>
                <a:cs typeface="Bitstream Charter"/>
              </a:defRPr>
            </a:pPr>
            <a:r>
              <a:rPr sz="825" b="0">
                <a:solidFill>
                  <a:srgbClr val="708296"/>
                </a:solidFill>
                <a:latin typeface="Bitstream Charter"/>
                <a:ea typeface="Bitstream Charter"/>
                <a:cs typeface="Bitstream Charter"/>
              </a:rPr>
              <a:t>E-Commerce DevOps Platform   |   1 / 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1d3939107ba499a"/>
          <a:stretch xmlns:a="http://schemas.openxmlformats.org/drawingml/2006/main"/>
        </p:blipFill>
        <p:spPr>
          <a:xfrm xmlns:a="http://schemas.openxmlformats.org/drawingml/2006/main">
            <a:off x="2019300" y="1143000"/>
            <a:ext cx="8153400" cy="5095875"/>
          </a:xfrm>
          <a:prstGeom xmlns:a="http://schemas.openxmlformats.org/drawingml/2006/main" prst="rect">
            <a:avLst/>
          </a:prstGeom>
        </p:spPr>
      </p:pic>
    </p:spTree>
    <p:extLst>
      <p:ext uri="{BB962C8B-B14F-4D97-AF65-F5344CB8AC3E}">
        <p14:creationId xmlns:p14="http://schemas.microsoft.com/office/powerpoint/2010/main" val="392189491"/>
      </p:ext>
    </p:extLst>
  </p:cSld>
</p:sld>
</file>

<file path=ppt/slides/slide2.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4109B30-F1C4-48D1-AB2A-BDA292E9BBE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E06216-1A7D-405B-98D5-F83FF8C01026}"/>
              </a:ext>
            </a:extLst>
          </p:cNvPr>
          <p:cNvSpPr>
            <a:spLocks xmlns:a="http://schemas.openxmlformats.org/drawingml/2006/main" noGrp="1"/>
          </p:cNvSpPr>
          <p:nvPr/>
        </p:nvSpPr>
        <p:spPr>
          <a:xfrm xmlns:a="http://schemas.openxmlformats.org/drawingml/2006/main">
            <a:off x="647700" y="4000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203C55"/>
                </a:solidFill>
                <a:latin typeface="Bitstream Charter"/>
                <a:ea typeface="Bitstream Charter"/>
                <a:cs typeface="Bitstream Charter"/>
              </a:defRPr>
            </a:pPr>
            <a:r>
              <a:rPr sz="2550" b="1">
                <a:solidFill>
                  <a:srgbClr val="203C55"/>
                </a:solidFill>
                <a:latin typeface="Bitstream Charter"/>
                <a:ea typeface="Bitstream Charter"/>
                <a:cs typeface="Bitstream Charter"/>
              </a:rPr>
              <a:t>Design choices</a:t>
            </a:r>
          </a:p>
        </p:txBody>
      </p:sp>
      <p:sp>
        <p:nvSpPr>
          <p:cNvPr id="3" name="">
            <a:extLst xmlns:a="http://schemas.openxmlformats.org/drawingml/2006/main">
              <a:ext uri="{FF2B5EF4-FFF2-40B4-BE49-F238E27FC236}">
                <a16:creationId xmlns:a16="http://schemas.microsoft.com/office/drawing/2014/main" id="{E4B435DC-3FA9-47F0-935C-069142B3C1E8}"/>
              </a:ext>
            </a:extLst>
          </p:cNvPr>
          <p:cNvSpPr>
            <a:spLocks xmlns:a="http://schemas.openxmlformats.org/drawingml/2006/main" noGrp="1"/>
          </p:cNvSpPr>
          <p:nvPr/>
        </p:nvSpPr>
        <p:spPr>
          <a:xfrm xmlns:a="http://schemas.openxmlformats.org/drawingml/2006/main">
            <a:off x="647700" y="962025"/>
            <a:ext cx="1047750" cy="38100"/>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27BB147-E6A7-4EA8-8D76-A006188469DC}"/>
              </a:ext>
            </a:extLst>
          </p:cNvPr>
          <p:cNvSpPr>
            <a:spLocks xmlns:a="http://schemas.openxmlformats.org/drawingml/2006/main" noGrp="1"/>
          </p:cNvSpPr>
          <p:nvPr/>
        </p:nvSpPr>
        <p:spPr>
          <a:xfrm xmlns:a="http://schemas.openxmlformats.org/drawingml/2006/main">
            <a:off x="647700" y="64865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08296"/>
                </a:solidFill>
                <a:latin typeface="Bitstream Charter"/>
                <a:ea typeface="Bitstream Charter"/>
                <a:cs typeface="Bitstream Charter"/>
              </a:defRPr>
            </a:pPr>
            <a:r>
              <a:rPr sz="825" b="0">
                <a:solidFill>
                  <a:srgbClr val="708296"/>
                </a:solidFill>
                <a:latin typeface="Bitstream Charter"/>
                <a:ea typeface="Bitstream Charter"/>
                <a:cs typeface="Bitstream Charter"/>
              </a:rPr>
              <a:t>E-Commerce DevOps Platform   |   2 / 6</a:t>
            </a:r>
          </a:p>
        </p:txBody>
      </p:sp>
      <p:sp>
        <p:nvSpPr>
          <p:cNvPr id="5" name="">
            <a:extLst xmlns:a="http://schemas.openxmlformats.org/drawingml/2006/main">
              <a:ext uri="{FF2B5EF4-FFF2-40B4-BE49-F238E27FC236}">
                <a16:creationId xmlns:a16="http://schemas.microsoft.com/office/drawing/2014/main" id="{C50016A8-91B4-4EB2-885A-B05C7381A609}"/>
              </a:ext>
            </a:extLst>
          </p:cNvPr>
          <p:cNvSpPr>
            <a:spLocks xmlns:a="http://schemas.openxmlformats.org/drawingml/2006/main" noGrp="1"/>
          </p:cNvSpPr>
          <p:nvPr/>
        </p:nvSpPr>
        <p:spPr>
          <a:xfrm xmlns:a="http://schemas.openxmlformats.org/drawingml/2006/main">
            <a:off x="647700" y="1143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708296"/>
                </a:solidFill>
                <a:latin typeface="Bitstream Charter"/>
                <a:ea typeface="Bitstream Charter"/>
                <a:cs typeface="Bitstream Charter"/>
              </a:defRPr>
            </a:pPr>
            <a:r>
              <a:rPr sz="1275" b="0">
                <a:solidFill>
                  <a:srgbClr val="708296"/>
                </a:solidFill>
                <a:latin typeface="Bitstream Charter"/>
                <a:ea typeface="Bitstream Charter"/>
                <a:cs typeface="Bitstream Charter"/>
              </a:rPr>
              <a:t>Each decision supports a practical goal: repeatable delivery, secure access, or reliable runtime behavior.</a:t>
            </a:r>
          </a:p>
        </p:txBody>
      </p:sp>
      <p:sp>
        <p:nvSpPr>
          <p:cNvPr id="6" name="">
            <a:extLst xmlns:a="http://schemas.openxmlformats.org/drawingml/2006/main">
              <a:ext uri="{FF2B5EF4-FFF2-40B4-BE49-F238E27FC236}">
                <a16:creationId xmlns:a16="http://schemas.microsoft.com/office/drawing/2014/main" id="{D5D3D2A0-864A-401D-A394-5A85858E868E}"/>
              </a:ext>
            </a:extLst>
          </p:cNvPr>
          <p:cNvSpPr>
            <a:spLocks xmlns:a="http://schemas.openxmlformats.org/drawingml/2006/main" noGrp="1"/>
          </p:cNvSpPr>
          <p:nvPr/>
        </p:nvSpPr>
        <p:spPr>
          <a:xfrm xmlns:a="http://schemas.openxmlformats.org/drawingml/2006/main">
            <a:off x="647700" y="1590675"/>
            <a:ext cx="10896600" cy="628650"/>
          </a:xfrm>
          <a:prstGeom xmlns:a="http://schemas.openxmlformats.org/drawingml/2006/main" prst="rect">
            <a:avLst/>
          </a:prstGeom>
          <a:solidFill xmlns:a="http://schemas.openxmlformats.org/drawingml/2006/main">
            <a:srgbClr val="EEF4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D8C8677-E21A-406D-8082-6E144CE36939}"/>
              </a:ext>
            </a:extLst>
          </p:cNvPr>
          <p:cNvSpPr>
            <a:spLocks xmlns:a="http://schemas.openxmlformats.org/drawingml/2006/main" noGrp="1"/>
          </p:cNvSpPr>
          <p:nvPr/>
        </p:nvSpPr>
        <p:spPr>
          <a:xfrm xmlns:a="http://schemas.openxmlformats.org/drawingml/2006/main">
            <a:off x="876300" y="16668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03C55"/>
                </a:solidFill>
                <a:latin typeface="Bitstream Charter"/>
                <a:ea typeface="Bitstream Charter"/>
                <a:cs typeface="Bitstream Charter"/>
              </a:defRPr>
            </a:pPr>
            <a:r>
              <a:rPr sz="1350" b="1">
                <a:solidFill>
                  <a:srgbClr val="203C55"/>
                </a:solidFill>
                <a:latin typeface="Bitstream Charter"/>
                <a:ea typeface="Bitstream Charter"/>
                <a:cs typeface="Bitstream Charter"/>
              </a:rPr>
              <a:t>Separate services</a:t>
            </a:r>
          </a:p>
        </p:txBody>
      </p:sp>
      <p:sp>
        <p:nvSpPr>
          <p:cNvPr id="8" name="">
            <a:extLst xmlns:a="http://schemas.openxmlformats.org/drawingml/2006/main">
              <a:ext uri="{FF2B5EF4-FFF2-40B4-BE49-F238E27FC236}">
                <a16:creationId xmlns:a16="http://schemas.microsoft.com/office/drawing/2014/main" id="{17F953EC-4EB5-41BC-AAEB-E470FBB62933}"/>
              </a:ext>
            </a:extLst>
          </p:cNvPr>
          <p:cNvSpPr>
            <a:spLocks xmlns:a="http://schemas.openxmlformats.org/drawingml/2006/main" noGrp="1"/>
          </p:cNvSpPr>
          <p:nvPr/>
        </p:nvSpPr>
        <p:spPr>
          <a:xfrm xmlns:a="http://schemas.openxmlformats.org/drawingml/2006/main">
            <a:off x="3619500" y="1666875"/>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38" b="0">
                <a:solidFill>
                  <a:srgbClr val="34495E"/>
                </a:solidFill>
                <a:latin typeface="Bitstream Charter"/>
                <a:ea typeface="Bitstream Charter"/>
                <a:cs typeface="Bitstream Charter"/>
              </a:defRPr>
            </a:pPr>
            <a:r>
              <a:rPr sz="1238" b="0">
                <a:solidFill>
                  <a:srgbClr val="34495E"/>
                </a:solidFill>
                <a:latin typeface="Bitstream Charter"/>
                <a:ea typeface="Bitstream Charter"/>
                <a:cs typeface="Bitstream Charter"/>
              </a:rPr>
              <a:t>Frontend, Product, and Order have clear responsibilities. Product and Order can scale independently.</a:t>
            </a:r>
          </a:p>
        </p:txBody>
      </p:sp>
      <p:sp>
        <p:nvSpPr>
          <p:cNvPr id="9" name="">
            <a:extLst xmlns:a="http://schemas.openxmlformats.org/drawingml/2006/main">
              <a:ext uri="{FF2B5EF4-FFF2-40B4-BE49-F238E27FC236}">
                <a16:creationId xmlns:a16="http://schemas.microsoft.com/office/drawing/2014/main" id="{77491C21-7946-46D5-8350-390D87525793}"/>
              </a:ext>
            </a:extLst>
          </p:cNvPr>
          <p:cNvSpPr>
            <a:spLocks xmlns:a="http://schemas.openxmlformats.org/drawingml/2006/main" noGrp="1"/>
          </p:cNvSpPr>
          <p:nvPr/>
        </p:nvSpPr>
        <p:spPr>
          <a:xfrm xmlns:a="http://schemas.openxmlformats.org/drawingml/2006/main">
            <a:off x="876300" y="23526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03C55"/>
                </a:solidFill>
                <a:latin typeface="Bitstream Charter"/>
                <a:ea typeface="Bitstream Charter"/>
                <a:cs typeface="Bitstream Charter"/>
              </a:defRPr>
            </a:pPr>
            <a:r>
              <a:rPr sz="1350" b="1">
                <a:solidFill>
                  <a:srgbClr val="203C55"/>
                </a:solidFill>
                <a:latin typeface="Bitstream Charter"/>
                <a:ea typeface="Bitstream Charter"/>
                <a:cs typeface="Bitstream Charter"/>
              </a:rPr>
              <a:t>One Dockerfile</a:t>
            </a:r>
          </a:p>
        </p:txBody>
      </p:sp>
      <p:sp>
        <p:nvSpPr>
          <p:cNvPr id="10" name="">
            <a:extLst xmlns:a="http://schemas.openxmlformats.org/drawingml/2006/main">
              <a:ext uri="{FF2B5EF4-FFF2-40B4-BE49-F238E27FC236}">
                <a16:creationId xmlns:a16="http://schemas.microsoft.com/office/drawing/2014/main" id="{5E02D13F-8F82-4845-88B1-0057B906FAB4}"/>
              </a:ext>
            </a:extLst>
          </p:cNvPr>
          <p:cNvSpPr>
            <a:spLocks xmlns:a="http://schemas.openxmlformats.org/drawingml/2006/main" noGrp="1"/>
          </p:cNvSpPr>
          <p:nvPr/>
        </p:nvSpPr>
        <p:spPr>
          <a:xfrm xmlns:a="http://schemas.openxmlformats.org/drawingml/2006/main">
            <a:off x="3619500" y="2352675"/>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38" b="0">
                <a:solidFill>
                  <a:srgbClr val="34495E"/>
                </a:solidFill>
                <a:latin typeface="Bitstream Charter"/>
                <a:ea typeface="Bitstream Charter"/>
                <a:cs typeface="Bitstream Charter"/>
              </a:defRPr>
            </a:pPr>
            <a:r>
              <a:rPr sz="1238" b="0">
                <a:solidFill>
                  <a:srgbClr val="34495E"/>
                </a:solidFill>
                <a:latin typeface="Bitstream Charter"/>
                <a:ea typeface="Bitstream Charter"/>
                <a:cs typeface="Bitstream Charter"/>
              </a:rPr>
              <a:t>The SERVICE_DIR build argument reuses one container build pattern. Containers run as non-root UID 10001.</a:t>
            </a:r>
          </a:p>
        </p:txBody>
      </p:sp>
      <p:sp>
        <p:nvSpPr>
          <p:cNvPr id="11" name="">
            <a:extLst xmlns:a="http://schemas.openxmlformats.org/drawingml/2006/main">
              <a:ext uri="{FF2B5EF4-FFF2-40B4-BE49-F238E27FC236}">
                <a16:creationId xmlns:a16="http://schemas.microsoft.com/office/drawing/2014/main" id="{D9270A3A-ED95-49A0-BA86-C19B6B2961A3}"/>
              </a:ext>
            </a:extLst>
          </p:cNvPr>
          <p:cNvSpPr>
            <a:spLocks xmlns:a="http://schemas.openxmlformats.org/drawingml/2006/main" noGrp="1"/>
          </p:cNvSpPr>
          <p:nvPr/>
        </p:nvSpPr>
        <p:spPr>
          <a:xfrm xmlns:a="http://schemas.openxmlformats.org/drawingml/2006/main">
            <a:off x="647700" y="2962275"/>
            <a:ext cx="10896600" cy="628650"/>
          </a:xfrm>
          <a:prstGeom xmlns:a="http://schemas.openxmlformats.org/drawingml/2006/main" prst="rect">
            <a:avLst/>
          </a:prstGeom>
          <a:solidFill xmlns:a="http://schemas.openxmlformats.org/drawingml/2006/main">
            <a:srgbClr val="EFF7F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3A29AFE-BF6D-45FB-AB0D-2A788F5F2664}"/>
              </a:ext>
            </a:extLst>
          </p:cNvPr>
          <p:cNvSpPr>
            <a:spLocks xmlns:a="http://schemas.openxmlformats.org/drawingml/2006/main" noGrp="1"/>
          </p:cNvSpPr>
          <p:nvPr/>
        </p:nvSpPr>
        <p:spPr>
          <a:xfrm xmlns:a="http://schemas.openxmlformats.org/drawingml/2006/main">
            <a:off x="876300" y="30384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03C55"/>
                </a:solidFill>
                <a:latin typeface="Bitstream Charter"/>
                <a:ea typeface="Bitstream Charter"/>
                <a:cs typeface="Bitstream Charter"/>
              </a:defRPr>
            </a:pPr>
            <a:r>
              <a:rPr sz="1350" b="1">
                <a:solidFill>
                  <a:srgbClr val="203C55"/>
                </a:solidFill>
                <a:latin typeface="Bitstream Charter"/>
                <a:ea typeface="Bitstream Charter"/>
                <a:cs typeface="Bitstream Charter"/>
              </a:rPr>
              <a:t>Compose before cloud</a:t>
            </a:r>
          </a:p>
        </p:txBody>
      </p:sp>
      <p:sp>
        <p:nvSpPr>
          <p:cNvPr id="13" name="">
            <a:extLst xmlns:a="http://schemas.openxmlformats.org/drawingml/2006/main">
              <a:ext uri="{FF2B5EF4-FFF2-40B4-BE49-F238E27FC236}">
                <a16:creationId xmlns:a16="http://schemas.microsoft.com/office/drawing/2014/main" id="{A13D41E0-89FB-42D5-8F02-FE6728C7EB57}"/>
              </a:ext>
            </a:extLst>
          </p:cNvPr>
          <p:cNvSpPr>
            <a:spLocks xmlns:a="http://schemas.openxmlformats.org/drawingml/2006/main" noGrp="1"/>
          </p:cNvSpPr>
          <p:nvPr/>
        </p:nvSpPr>
        <p:spPr>
          <a:xfrm xmlns:a="http://schemas.openxmlformats.org/drawingml/2006/main">
            <a:off x="3619500" y="3038475"/>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38" b="0">
                <a:solidFill>
                  <a:srgbClr val="34495E"/>
                </a:solidFill>
                <a:latin typeface="Bitstream Charter"/>
                <a:ea typeface="Bitstream Charter"/>
                <a:cs typeface="Bitstream Charter"/>
              </a:defRPr>
            </a:pPr>
            <a:r>
              <a:rPr sz="1238" b="0">
                <a:solidFill>
                  <a:srgbClr val="34495E"/>
                </a:solidFill>
                <a:latin typeface="Bitstream Charter"/>
                <a:ea typeface="Bitstream Charter"/>
                <a:cs typeface="Bitstream Charter"/>
              </a:rPr>
              <a:t>Docker Compose reproduces the Product, Order, and PostgreSQL flow locally before deployment.</a:t>
            </a:r>
          </a:p>
        </p:txBody>
      </p:sp>
      <p:sp>
        <p:nvSpPr>
          <p:cNvPr id="14" name="">
            <a:extLst xmlns:a="http://schemas.openxmlformats.org/drawingml/2006/main">
              <a:ext uri="{FF2B5EF4-FFF2-40B4-BE49-F238E27FC236}">
                <a16:creationId xmlns:a16="http://schemas.microsoft.com/office/drawing/2014/main" id="{9ABEF5D6-72C1-4602-A2BB-2236F3C86B10}"/>
              </a:ext>
            </a:extLst>
          </p:cNvPr>
          <p:cNvSpPr>
            <a:spLocks xmlns:a="http://schemas.openxmlformats.org/drawingml/2006/main" noGrp="1"/>
          </p:cNvSpPr>
          <p:nvPr/>
        </p:nvSpPr>
        <p:spPr>
          <a:xfrm xmlns:a="http://schemas.openxmlformats.org/drawingml/2006/main">
            <a:off x="876300" y="37242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03C55"/>
                </a:solidFill>
                <a:latin typeface="Bitstream Charter"/>
                <a:ea typeface="Bitstream Charter"/>
                <a:cs typeface="Bitstream Charter"/>
              </a:defRPr>
            </a:pPr>
            <a:r>
              <a:rPr sz="1350" b="1">
                <a:solidFill>
                  <a:srgbClr val="203C55"/>
                </a:solidFill>
                <a:latin typeface="Bitstream Charter"/>
                <a:ea typeface="Bitstream Charter"/>
                <a:cs typeface="Bitstream Charter"/>
              </a:rPr>
              <a:t>EKS and ALB Ingress</a:t>
            </a:r>
          </a:p>
        </p:txBody>
      </p:sp>
      <p:sp>
        <p:nvSpPr>
          <p:cNvPr id="15" name="">
            <a:extLst xmlns:a="http://schemas.openxmlformats.org/drawingml/2006/main">
              <a:ext uri="{FF2B5EF4-FFF2-40B4-BE49-F238E27FC236}">
                <a16:creationId xmlns:a16="http://schemas.microsoft.com/office/drawing/2014/main" id="{6D944875-540A-48C9-98B8-98A32FDBC17D}"/>
              </a:ext>
            </a:extLst>
          </p:cNvPr>
          <p:cNvSpPr>
            <a:spLocks xmlns:a="http://schemas.openxmlformats.org/drawingml/2006/main" noGrp="1"/>
          </p:cNvSpPr>
          <p:nvPr/>
        </p:nvSpPr>
        <p:spPr>
          <a:xfrm xmlns:a="http://schemas.openxmlformats.org/drawingml/2006/main">
            <a:off x="3619500" y="3724275"/>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38" b="0">
                <a:solidFill>
                  <a:srgbClr val="34495E"/>
                </a:solidFill>
                <a:latin typeface="Bitstream Charter"/>
                <a:ea typeface="Bitstream Charter"/>
                <a:cs typeface="Bitstream Charter"/>
              </a:defRPr>
            </a:pPr>
            <a:r>
              <a:rPr sz="1238" b="0">
                <a:solidFill>
                  <a:srgbClr val="34495E"/>
                </a:solidFill>
                <a:latin typeface="Bitstream Charter"/>
                <a:ea typeface="Bitstream Charter"/>
                <a:cs typeface="Bitstream Charter"/>
              </a:rPr>
              <a:t>Deployments provide self-healing; Services provide discovery; one ALB routes paths to the correct service.</a:t>
            </a:r>
          </a:p>
        </p:txBody>
      </p:sp>
      <p:sp>
        <p:nvSpPr>
          <p:cNvPr id="16" name="">
            <a:extLst xmlns:a="http://schemas.openxmlformats.org/drawingml/2006/main">
              <a:ext uri="{FF2B5EF4-FFF2-40B4-BE49-F238E27FC236}">
                <a16:creationId xmlns:a16="http://schemas.microsoft.com/office/drawing/2014/main" id="{469D4350-C51A-4898-B760-59A26E2913C5}"/>
              </a:ext>
            </a:extLst>
          </p:cNvPr>
          <p:cNvSpPr>
            <a:spLocks xmlns:a="http://schemas.openxmlformats.org/drawingml/2006/main" noGrp="1"/>
          </p:cNvSpPr>
          <p:nvPr/>
        </p:nvSpPr>
        <p:spPr>
          <a:xfrm xmlns:a="http://schemas.openxmlformats.org/drawingml/2006/main">
            <a:off x="647700" y="4333875"/>
            <a:ext cx="10896600" cy="628650"/>
          </a:xfrm>
          <a:prstGeom xmlns:a="http://schemas.openxmlformats.org/drawingml/2006/main" prst="rect">
            <a:avLst/>
          </a:prstGeom>
          <a:solidFill xmlns:a="http://schemas.openxmlformats.org/drawingml/2006/main">
            <a:srgbClr val="F4F0F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072E4F9-60E2-4C53-8C14-A3898ECCAB72}"/>
              </a:ext>
            </a:extLst>
          </p:cNvPr>
          <p:cNvSpPr>
            <a:spLocks xmlns:a="http://schemas.openxmlformats.org/drawingml/2006/main" noGrp="1"/>
          </p:cNvSpPr>
          <p:nvPr/>
        </p:nvSpPr>
        <p:spPr>
          <a:xfrm xmlns:a="http://schemas.openxmlformats.org/drawingml/2006/main">
            <a:off x="876300" y="44100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03C55"/>
                </a:solidFill>
                <a:latin typeface="Bitstream Charter"/>
                <a:ea typeface="Bitstream Charter"/>
                <a:cs typeface="Bitstream Charter"/>
              </a:defRPr>
            </a:pPr>
            <a:r>
              <a:rPr sz="1350" b="1">
                <a:solidFill>
                  <a:srgbClr val="203C55"/>
                </a:solidFill>
                <a:latin typeface="Bitstream Charter"/>
                <a:ea typeface="Bitstream Charter"/>
                <a:cs typeface="Bitstream Charter"/>
              </a:rPr>
              <a:t>Terraform and OIDC</a:t>
            </a:r>
          </a:p>
        </p:txBody>
      </p:sp>
      <p:sp>
        <p:nvSpPr>
          <p:cNvPr id="18" name="">
            <a:extLst xmlns:a="http://schemas.openxmlformats.org/drawingml/2006/main">
              <a:ext uri="{FF2B5EF4-FFF2-40B4-BE49-F238E27FC236}">
                <a16:creationId xmlns:a16="http://schemas.microsoft.com/office/drawing/2014/main" id="{7B4F698E-802D-468F-9D26-4D38584D5888}"/>
              </a:ext>
            </a:extLst>
          </p:cNvPr>
          <p:cNvSpPr>
            <a:spLocks xmlns:a="http://schemas.openxmlformats.org/drawingml/2006/main" noGrp="1"/>
          </p:cNvSpPr>
          <p:nvPr/>
        </p:nvSpPr>
        <p:spPr>
          <a:xfrm xmlns:a="http://schemas.openxmlformats.org/drawingml/2006/main">
            <a:off x="3619500" y="4410075"/>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38" b="0">
                <a:solidFill>
                  <a:srgbClr val="34495E"/>
                </a:solidFill>
                <a:latin typeface="Bitstream Charter"/>
                <a:ea typeface="Bitstream Charter"/>
                <a:cs typeface="Bitstream Charter"/>
              </a:defRPr>
            </a:pPr>
            <a:r>
              <a:rPr sz="1238" b="0">
                <a:solidFill>
                  <a:srgbClr val="34495E"/>
                </a:solidFill>
                <a:latin typeface="Bitstream Charter"/>
                <a:ea typeface="Bitstream Charter"/>
                <a:cs typeface="Bitstream Charter"/>
              </a:rPr>
              <a:t>Terraform manages AWS infrastructure. GitHub Actions uses temporary OIDC credentials instead of AWS access keys.</a:t>
            </a:r>
          </a:p>
        </p:txBody>
      </p:sp>
      <p:sp>
        <p:nvSpPr>
          <p:cNvPr id="19" name="">
            <a:extLst xmlns:a="http://schemas.openxmlformats.org/drawingml/2006/main">
              <a:ext uri="{FF2B5EF4-FFF2-40B4-BE49-F238E27FC236}">
                <a16:creationId xmlns:a16="http://schemas.microsoft.com/office/drawing/2014/main" id="{7B572B2A-16D5-48B9-9BC2-0A601F0E9DD0}"/>
              </a:ext>
            </a:extLst>
          </p:cNvPr>
          <p:cNvSpPr>
            <a:spLocks xmlns:a="http://schemas.openxmlformats.org/drawingml/2006/main" noGrp="1"/>
          </p:cNvSpPr>
          <p:nvPr/>
        </p:nvSpPr>
        <p:spPr>
          <a:xfrm xmlns:a="http://schemas.openxmlformats.org/drawingml/2006/main">
            <a:off x="876300" y="5095875"/>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1">
                <a:solidFill>
                  <a:srgbClr val="203C55"/>
                </a:solidFill>
                <a:latin typeface="Bitstream Charter"/>
                <a:ea typeface="Bitstream Charter"/>
                <a:cs typeface="Bitstream Charter"/>
              </a:defRPr>
            </a:pPr>
            <a:r>
              <a:rPr sz="1350" b="1">
                <a:solidFill>
                  <a:srgbClr val="203C55"/>
                </a:solidFill>
                <a:latin typeface="Bitstream Charter"/>
                <a:ea typeface="Bitstream Charter"/>
                <a:cs typeface="Bitstream Charter"/>
              </a:rPr>
              <a:t>Private data and visibility</a:t>
            </a:r>
          </a:p>
        </p:txBody>
      </p:sp>
      <p:sp>
        <p:nvSpPr>
          <p:cNvPr id="20" name="">
            <a:extLst xmlns:a="http://schemas.openxmlformats.org/drawingml/2006/main">
              <a:ext uri="{FF2B5EF4-FFF2-40B4-BE49-F238E27FC236}">
                <a16:creationId xmlns:a16="http://schemas.microsoft.com/office/drawing/2014/main" id="{933EF38D-1E10-4269-8BCF-8E0CC45087C4}"/>
              </a:ext>
            </a:extLst>
          </p:cNvPr>
          <p:cNvSpPr>
            <a:spLocks xmlns:a="http://schemas.openxmlformats.org/drawingml/2006/main" noGrp="1"/>
          </p:cNvSpPr>
          <p:nvPr/>
        </p:nvSpPr>
        <p:spPr>
          <a:xfrm xmlns:a="http://schemas.openxmlformats.org/drawingml/2006/main">
            <a:off x="3619500" y="5095875"/>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38" b="0">
                <a:solidFill>
                  <a:srgbClr val="34495E"/>
                </a:solidFill>
                <a:latin typeface="Bitstream Charter"/>
                <a:ea typeface="Bitstream Charter"/>
                <a:cs typeface="Bitstream Charter"/>
              </a:defRPr>
            </a:pPr>
            <a:r>
              <a:rPr sz="1238" b="0">
                <a:solidFill>
                  <a:srgbClr val="34495E"/>
                </a:solidFill>
                <a:latin typeface="Bitstream Charter"/>
                <a:ea typeface="Bitstream Charter"/>
                <a:cs typeface="Bitstream Charter"/>
              </a:rPr>
              <a:t>RDS stays private and encrypted. CloudWatch, SonarQube, and ECR scanning provide operational and security signals.</a:t>
            </a:r>
          </a:p>
        </p:txBody>
      </p:sp>
    </p:spTree>
    <p:extLst>
      <p:ext uri="{BB962C8B-B14F-4D97-AF65-F5344CB8AC3E}">
        <p14:creationId xmlns:p14="http://schemas.microsoft.com/office/powerpoint/2010/main" val="1675243282"/>
      </p:ext>
    </p:extLst>
  </p:cSld>
</p:sld>
</file>

<file path=ppt/slides/slide3.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731F2FA-206D-4005-8CED-F422A5D1FBA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1E8927-1D45-4CBF-B9E3-F64AA9C3A2F7}"/>
              </a:ext>
            </a:extLst>
          </p:cNvPr>
          <p:cNvSpPr>
            <a:spLocks xmlns:a="http://schemas.openxmlformats.org/drawingml/2006/main" noGrp="1"/>
          </p:cNvSpPr>
          <p:nvPr/>
        </p:nvSpPr>
        <p:spPr>
          <a:xfrm xmlns:a="http://schemas.openxmlformats.org/drawingml/2006/main">
            <a:off x="647700" y="4000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203C55"/>
                </a:solidFill>
                <a:latin typeface="Bitstream Charter"/>
                <a:ea typeface="Bitstream Charter"/>
                <a:cs typeface="Bitstream Charter"/>
              </a:defRPr>
            </a:pPr>
            <a:r>
              <a:rPr sz="2550" b="1">
                <a:solidFill>
                  <a:srgbClr val="203C55"/>
                </a:solidFill>
                <a:latin typeface="Bitstream Charter"/>
                <a:ea typeface="Bitstream Charter"/>
                <a:cs typeface="Bitstream Charter"/>
              </a:rPr>
              <a:t>CI/CD workflows</a:t>
            </a:r>
          </a:p>
        </p:txBody>
      </p:sp>
      <p:sp>
        <p:nvSpPr>
          <p:cNvPr id="3" name="">
            <a:extLst xmlns:a="http://schemas.openxmlformats.org/drawingml/2006/main">
              <a:ext uri="{FF2B5EF4-FFF2-40B4-BE49-F238E27FC236}">
                <a16:creationId xmlns:a16="http://schemas.microsoft.com/office/drawing/2014/main" id="{489665BC-ADA2-428A-BFF7-96D6456045BA}"/>
              </a:ext>
            </a:extLst>
          </p:cNvPr>
          <p:cNvSpPr>
            <a:spLocks xmlns:a="http://schemas.openxmlformats.org/drawingml/2006/main" noGrp="1"/>
          </p:cNvSpPr>
          <p:nvPr/>
        </p:nvSpPr>
        <p:spPr>
          <a:xfrm xmlns:a="http://schemas.openxmlformats.org/drawingml/2006/main">
            <a:off x="647700" y="962025"/>
            <a:ext cx="1047750" cy="38100"/>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164BC2-2838-468A-AC3B-1ED902891028}"/>
              </a:ext>
            </a:extLst>
          </p:cNvPr>
          <p:cNvSpPr>
            <a:spLocks xmlns:a="http://schemas.openxmlformats.org/drawingml/2006/main" noGrp="1"/>
          </p:cNvSpPr>
          <p:nvPr/>
        </p:nvSpPr>
        <p:spPr>
          <a:xfrm xmlns:a="http://schemas.openxmlformats.org/drawingml/2006/main">
            <a:off x="647700" y="64865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08296"/>
                </a:solidFill>
                <a:latin typeface="Bitstream Charter"/>
                <a:ea typeface="Bitstream Charter"/>
                <a:cs typeface="Bitstream Charter"/>
              </a:defRPr>
            </a:pPr>
            <a:r>
              <a:rPr sz="825" b="0">
                <a:solidFill>
                  <a:srgbClr val="708296"/>
                </a:solidFill>
                <a:latin typeface="Bitstream Charter"/>
                <a:ea typeface="Bitstream Charter"/>
                <a:cs typeface="Bitstream Charter"/>
              </a:rPr>
              <a:t>E-Commerce DevOps Platform   |   3 / 6</a:t>
            </a:r>
          </a:p>
        </p:txBody>
      </p:sp>
      <p:sp>
        <p:nvSpPr>
          <p:cNvPr id="5" name="">
            <a:extLst xmlns:a="http://schemas.openxmlformats.org/drawingml/2006/main">
              <a:ext uri="{FF2B5EF4-FFF2-40B4-BE49-F238E27FC236}">
                <a16:creationId xmlns:a16="http://schemas.microsoft.com/office/drawing/2014/main" id="{BA891849-75EF-4FE4-8DCE-82B00132F58A}"/>
              </a:ext>
            </a:extLst>
          </p:cNvPr>
          <p:cNvSpPr>
            <a:spLocks xmlns:a="http://schemas.openxmlformats.org/drawingml/2006/main" noGrp="1"/>
          </p:cNvSpPr>
          <p:nvPr/>
        </p:nvSpPr>
        <p:spPr>
          <a:xfrm xmlns:a="http://schemas.openxmlformats.org/drawingml/2006/main">
            <a:off x="647700" y="11430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708296"/>
                </a:solidFill>
                <a:latin typeface="Bitstream Charter"/>
                <a:ea typeface="Bitstream Charter"/>
                <a:cs typeface="Bitstream Charter"/>
              </a:defRPr>
            </a:pPr>
            <a:r>
              <a:rPr sz="1275" b="0">
                <a:solidFill>
                  <a:srgbClr val="708296"/>
                </a:solidFill>
                <a:latin typeface="Bitstream Charter"/>
                <a:ea typeface="Bitstream Charter"/>
                <a:cs typeface="Bitstream Charter"/>
              </a:rPr>
              <a:t>Two manually triggered GitHub Actions workflows. Both authenticate to AWS with OIDC.</a:t>
            </a:r>
          </a:p>
        </p:txBody>
      </p:sp>
      <p:sp>
        <p:nvSpPr>
          <p:cNvPr id="6" name="">
            <a:extLst xmlns:a="http://schemas.openxmlformats.org/drawingml/2006/main">
              <a:ext uri="{FF2B5EF4-FFF2-40B4-BE49-F238E27FC236}">
                <a16:creationId xmlns:a16="http://schemas.microsoft.com/office/drawing/2014/main" id="{43322C40-E4A0-48A0-BFCF-03341F0DD9AA}"/>
              </a:ext>
            </a:extLst>
          </p:cNvPr>
          <p:cNvSpPr>
            <a:spLocks xmlns:a="http://schemas.openxmlformats.org/drawingml/2006/main" noGrp="1"/>
          </p:cNvSpPr>
          <p:nvPr/>
        </p:nvSpPr>
        <p:spPr>
          <a:xfrm xmlns:a="http://schemas.openxmlformats.org/drawingml/2006/main">
            <a:off x="647700" y="1438275"/>
            <a:ext cx="4857750" cy="400050"/>
          </a:xfrm>
          <a:prstGeom xmlns:a="http://schemas.openxmlformats.org/drawingml/2006/main" prst="rect">
            <a:avLst/>
          </a:prstGeom>
          <a:solidFill xmlns:a="http://schemas.openxmlformats.org/drawingml/2006/main">
            <a:srgbClr val="EEF4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980511D-617A-40D2-9B62-E163241D3A70}"/>
              </a:ext>
            </a:extLst>
          </p:cNvPr>
          <p:cNvSpPr>
            <a:spLocks xmlns:a="http://schemas.openxmlformats.org/drawingml/2006/main" noGrp="1"/>
          </p:cNvSpPr>
          <p:nvPr/>
        </p:nvSpPr>
        <p:spPr>
          <a:xfrm xmlns:a="http://schemas.openxmlformats.org/drawingml/2006/main">
            <a:off x="838200" y="1524000"/>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03C55"/>
                </a:solidFill>
                <a:latin typeface="Bitstream Charter"/>
                <a:ea typeface="Bitstream Charter"/>
                <a:cs typeface="Bitstream Charter"/>
              </a:defRPr>
            </a:pPr>
            <a:r>
              <a:rPr sz="1425" b="1">
                <a:solidFill>
                  <a:srgbClr val="203C55"/>
                </a:solidFill>
                <a:latin typeface="Bitstream Charter"/>
                <a:ea typeface="Bitstream Charter"/>
                <a:cs typeface="Bitstream Charter"/>
              </a:rPr>
              <a:t>Infrastructure CI/CD</a:t>
            </a:r>
          </a:p>
        </p:txBody>
      </p:sp>
      <p:sp>
        <p:nvSpPr>
          <p:cNvPr id="8" name="">
            <a:extLst xmlns:a="http://schemas.openxmlformats.org/drawingml/2006/main">
              <a:ext uri="{FF2B5EF4-FFF2-40B4-BE49-F238E27FC236}">
                <a16:creationId xmlns:a16="http://schemas.microsoft.com/office/drawing/2014/main" id="{751752B4-D825-4189-8EA7-0D6E06422381}"/>
              </a:ext>
            </a:extLst>
          </p:cNvPr>
          <p:cNvSpPr>
            <a:spLocks xmlns:a="http://schemas.openxmlformats.org/drawingml/2006/main" noGrp="1"/>
          </p:cNvSpPr>
          <p:nvPr/>
        </p:nvSpPr>
        <p:spPr>
          <a:xfrm xmlns:a="http://schemas.openxmlformats.org/drawingml/2006/main">
            <a:off x="6686550" y="1438275"/>
            <a:ext cx="4857750" cy="400050"/>
          </a:xfrm>
          <a:prstGeom xmlns:a="http://schemas.openxmlformats.org/drawingml/2006/main" prst="rect">
            <a:avLst/>
          </a:prstGeom>
          <a:solidFill xmlns:a="http://schemas.openxmlformats.org/drawingml/2006/main">
            <a:srgbClr val="EFF7F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90FF445-8C11-4138-BA19-B80C9D04E542}"/>
              </a:ext>
            </a:extLst>
          </p:cNvPr>
          <p:cNvSpPr>
            <a:spLocks xmlns:a="http://schemas.openxmlformats.org/drawingml/2006/main" noGrp="1"/>
          </p:cNvSpPr>
          <p:nvPr/>
        </p:nvSpPr>
        <p:spPr>
          <a:xfrm xmlns:a="http://schemas.openxmlformats.org/drawingml/2006/main">
            <a:off x="6877050" y="1524000"/>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03C55"/>
                </a:solidFill>
                <a:latin typeface="Bitstream Charter"/>
                <a:ea typeface="Bitstream Charter"/>
                <a:cs typeface="Bitstream Charter"/>
              </a:defRPr>
            </a:pPr>
            <a:r>
              <a:rPr sz="1425" b="1">
                <a:solidFill>
                  <a:srgbClr val="203C55"/>
                </a:solidFill>
                <a:latin typeface="Bitstream Charter"/>
                <a:ea typeface="Bitstream Charter"/>
                <a:cs typeface="Bitstream Charter"/>
              </a:rPr>
              <a:t>Application CI/CD</a:t>
            </a:r>
          </a:p>
        </p:txBody>
      </p:sp>
      <p:sp>
        <p:nvSpPr>
          <p:cNvPr id="10" name="">
            <a:extLst xmlns:a="http://schemas.openxmlformats.org/drawingml/2006/main">
              <a:ext uri="{FF2B5EF4-FFF2-40B4-BE49-F238E27FC236}">
                <a16:creationId xmlns:a16="http://schemas.microsoft.com/office/drawing/2014/main" id="{3C40D020-1F63-4742-9FB5-82B6F9B93A70}"/>
              </a:ext>
            </a:extLst>
          </p:cNvPr>
          <p:cNvSpPr>
            <a:spLocks xmlns:a="http://schemas.openxmlformats.org/drawingml/2006/main" noGrp="1"/>
          </p:cNvSpPr>
          <p:nvPr/>
        </p:nvSpPr>
        <p:spPr>
          <a:xfrm xmlns:a="http://schemas.openxmlformats.org/drawingml/2006/main">
            <a:off x="838200" y="209550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1</a:t>
            </a:r>
          </a:p>
        </p:txBody>
      </p:sp>
      <p:sp>
        <p:nvSpPr>
          <p:cNvPr id="11" name="">
            <a:extLst xmlns:a="http://schemas.openxmlformats.org/drawingml/2006/main">
              <a:ext uri="{FF2B5EF4-FFF2-40B4-BE49-F238E27FC236}">
                <a16:creationId xmlns:a16="http://schemas.microsoft.com/office/drawing/2014/main" id="{9465615E-BE45-4AF1-9769-48C8CB6250B6}"/>
              </a:ext>
            </a:extLst>
          </p:cNvPr>
          <p:cNvSpPr>
            <a:spLocks xmlns:a="http://schemas.openxmlformats.org/drawingml/2006/main" noGrp="1"/>
          </p:cNvSpPr>
          <p:nvPr/>
        </p:nvSpPr>
        <p:spPr>
          <a:xfrm xmlns:a="http://schemas.openxmlformats.org/drawingml/2006/main">
            <a:off x="1276350" y="208597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Authenticate</a:t>
            </a:r>
          </a:p>
        </p:txBody>
      </p:sp>
      <p:sp>
        <p:nvSpPr>
          <p:cNvPr id="12" name="">
            <a:extLst xmlns:a="http://schemas.openxmlformats.org/drawingml/2006/main">
              <a:ext uri="{FF2B5EF4-FFF2-40B4-BE49-F238E27FC236}">
                <a16:creationId xmlns:a16="http://schemas.microsoft.com/office/drawing/2014/main" id="{22B0DC1A-8B64-4A02-B3BC-737EDFAD4898}"/>
              </a:ext>
            </a:extLst>
          </p:cNvPr>
          <p:cNvSpPr>
            <a:spLocks xmlns:a="http://schemas.openxmlformats.org/drawingml/2006/main" noGrp="1"/>
          </p:cNvSpPr>
          <p:nvPr/>
        </p:nvSpPr>
        <p:spPr>
          <a:xfrm xmlns:a="http://schemas.openxmlformats.org/drawingml/2006/main">
            <a:off x="1276350" y="23145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GitHub OIDC assumes the AWS deployment role.</a:t>
            </a:r>
          </a:p>
        </p:txBody>
      </p:sp>
      <p:sp>
        <p:nvSpPr>
          <p:cNvPr id="13" name="">
            <a:extLst xmlns:a="http://schemas.openxmlformats.org/drawingml/2006/main">
              <a:ext uri="{FF2B5EF4-FFF2-40B4-BE49-F238E27FC236}">
                <a16:creationId xmlns:a16="http://schemas.microsoft.com/office/drawing/2014/main" id="{841177FE-D5ED-48A8-86B2-83E9486381A0}"/>
              </a:ext>
            </a:extLst>
          </p:cNvPr>
          <p:cNvSpPr>
            <a:spLocks xmlns:a="http://schemas.openxmlformats.org/drawingml/2006/main" noGrp="1"/>
          </p:cNvSpPr>
          <p:nvPr/>
        </p:nvSpPr>
        <p:spPr>
          <a:xfrm xmlns:a="http://schemas.openxmlformats.org/drawingml/2006/main">
            <a:off x="838200" y="295275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2</a:t>
            </a:r>
          </a:p>
        </p:txBody>
      </p:sp>
      <p:sp>
        <p:nvSpPr>
          <p:cNvPr id="14" name="">
            <a:extLst xmlns:a="http://schemas.openxmlformats.org/drawingml/2006/main">
              <a:ext uri="{FF2B5EF4-FFF2-40B4-BE49-F238E27FC236}">
                <a16:creationId xmlns:a16="http://schemas.microsoft.com/office/drawing/2014/main" id="{82752F7E-029F-4CDA-9655-2EC0001C9DFD}"/>
              </a:ext>
            </a:extLst>
          </p:cNvPr>
          <p:cNvSpPr>
            <a:spLocks xmlns:a="http://schemas.openxmlformats.org/drawingml/2006/main" noGrp="1"/>
          </p:cNvSpPr>
          <p:nvPr/>
        </p:nvSpPr>
        <p:spPr>
          <a:xfrm xmlns:a="http://schemas.openxmlformats.org/drawingml/2006/main">
            <a:off x="1276350" y="294322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Validate the plan</a:t>
            </a:r>
          </a:p>
        </p:txBody>
      </p:sp>
      <p:sp>
        <p:nvSpPr>
          <p:cNvPr id="15" name="">
            <a:extLst xmlns:a="http://schemas.openxmlformats.org/drawingml/2006/main">
              <a:ext uri="{FF2B5EF4-FFF2-40B4-BE49-F238E27FC236}">
                <a16:creationId xmlns:a16="http://schemas.microsoft.com/office/drawing/2014/main" id="{98773913-18DB-4FA2-8A3D-3E03CD98ED76}"/>
              </a:ext>
            </a:extLst>
          </p:cNvPr>
          <p:cNvSpPr>
            <a:spLocks xmlns:a="http://schemas.openxmlformats.org/drawingml/2006/main" noGrp="1"/>
          </p:cNvSpPr>
          <p:nvPr/>
        </p:nvSpPr>
        <p:spPr>
          <a:xfrm xmlns:a="http://schemas.openxmlformats.org/drawingml/2006/main">
            <a:off x="1276350" y="31718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fmt check, init, validate, then terraform plan -out=tfplan.</a:t>
            </a:r>
          </a:p>
        </p:txBody>
      </p:sp>
      <p:sp>
        <p:nvSpPr>
          <p:cNvPr id="16" name="">
            <a:extLst xmlns:a="http://schemas.openxmlformats.org/drawingml/2006/main">
              <a:ext uri="{FF2B5EF4-FFF2-40B4-BE49-F238E27FC236}">
                <a16:creationId xmlns:a16="http://schemas.microsoft.com/office/drawing/2014/main" id="{1C8A45ED-9F9E-4601-B43C-5D36CACF3F66}"/>
              </a:ext>
            </a:extLst>
          </p:cNvPr>
          <p:cNvSpPr>
            <a:spLocks xmlns:a="http://schemas.openxmlformats.org/drawingml/2006/main" noGrp="1"/>
          </p:cNvSpPr>
          <p:nvPr/>
        </p:nvSpPr>
        <p:spPr>
          <a:xfrm xmlns:a="http://schemas.openxmlformats.org/drawingml/2006/main">
            <a:off x="838200" y="381000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3</a:t>
            </a:r>
          </a:p>
        </p:txBody>
      </p:sp>
      <p:sp>
        <p:nvSpPr>
          <p:cNvPr id="17" name="">
            <a:extLst xmlns:a="http://schemas.openxmlformats.org/drawingml/2006/main">
              <a:ext uri="{FF2B5EF4-FFF2-40B4-BE49-F238E27FC236}">
                <a16:creationId xmlns:a16="http://schemas.microsoft.com/office/drawing/2014/main" id="{53446D10-C1D5-4F91-AEFF-E98677F7E70B}"/>
              </a:ext>
            </a:extLst>
          </p:cNvPr>
          <p:cNvSpPr>
            <a:spLocks xmlns:a="http://schemas.openxmlformats.org/drawingml/2006/main" noGrp="1"/>
          </p:cNvSpPr>
          <p:nvPr/>
        </p:nvSpPr>
        <p:spPr>
          <a:xfrm xmlns:a="http://schemas.openxmlformats.org/drawingml/2006/main">
            <a:off x="1276350" y="380047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Apply the saved plan</a:t>
            </a:r>
          </a:p>
        </p:txBody>
      </p:sp>
      <p:sp>
        <p:nvSpPr>
          <p:cNvPr id="18" name="">
            <a:extLst xmlns:a="http://schemas.openxmlformats.org/drawingml/2006/main">
              <a:ext uri="{FF2B5EF4-FFF2-40B4-BE49-F238E27FC236}">
                <a16:creationId xmlns:a16="http://schemas.microsoft.com/office/drawing/2014/main" id="{F599C26D-F9DC-4CEA-846E-43F4BCB1E417}"/>
              </a:ext>
            </a:extLst>
          </p:cNvPr>
          <p:cNvSpPr>
            <a:spLocks xmlns:a="http://schemas.openxmlformats.org/drawingml/2006/main" noGrp="1"/>
          </p:cNvSpPr>
          <p:nvPr/>
        </p:nvSpPr>
        <p:spPr>
          <a:xfrm xmlns:a="http://schemas.openxmlformats.org/drawingml/2006/main">
            <a:off x="1276350" y="40290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terraform apply tfplan provisions VPC, EKS, ECR, RDS, IAM, and networking.</a:t>
            </a:r>
          </a:p>
        </p:txBody>
      </p:sp>
      <p:sp>
        <p:nvSpPr>
          <p:cNvPr id="19" name="">
            <a:extLst xmlns:a="http://schemas.openxmlformats.org/drawingml/2006/main">
              <a:ext uri="{FF2B5EF4-FFF2-40B4-BE49-F238E27FC236}">
                <a16:creationId xmlns:a16="http://schemas.microsoft.com/office/drawing/2014/main" id="{8079F6DB-B212-4ED1-9B90-DCBB36522E72}"/>
              </a:ext>
            </a:extLst>
          </p:cNvPr>
          <p:cNvSpPr>
            <a:spLocks xmlns:a="http://schemas.openxmlformats.org/drawingml/2006/main" noGrp="1"/>
          </p:cNvSpPr>
          <p:nvPr/>
        </p:nvSpPr>
        <p:spPr>
          <a:xfrm xmlns:a="http://schemas.openxmlformats.org/drawingml/2006/main">
            <a:off x="6877050" y="209550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1</a:t>
            </a:r>
          </a:p>
        </p:txBody>
      </p:sp>
      <p:sp>
        <p:nvSpPr>
          <p:cNvPr id="20" name="">
            <a:extLst xmlns:a="http://schemas.openxmlformats.org/drawingml/2006/main">
              <a:ext uri="{FF2B5EF4-FFF2-40B4-BE49-F238E27FC236}">
                <a16:creationId xmlns:a16="http://schemas.microsoft.com/office/drawing/2014/main" id="{ED84FB89-306D-4302-92EF-5884FF94DA6C}"/>
              </a:ext>
            </a:extLst>
          </p:cNvPr>
          <p:cNvSpPr>
            <a:spLocks xmlns:a="http://schemas.openxmlformats.org/drawingml/2006/main" noGrp="1"/>
          </p:cNvSpPr>
          <p:nvPr/>
        </p:nvSpPr>
        <p:spPr>
          <a:xfrm xmlns:a="http://schemas.openxmlformats.org/drawingml/2006/main">
            <a:off x="7315200" y="208597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Validate</a:t>
            </a:r>
          </a:p>
        </p:txBody>
      </p:sp>
      <p:sp>
        <p:nvSpPr>
          <p:cNvPr id="21" name="">
            <a:extLst xmlns:a="http://schemas.openxmlformats.org/drawingml/2006/main">
              <a:ext uri="{FF2B5EF4-FFF2-40B4-BE49-F238E27FC236}">
                <a16:creationId xmlns:a16="http://schemas.microsoft.com/office/drawing/2014/main" id="{21F0D00F-1BD4-4D02-9BF3-C5D975893063}"/>
              </a:ext>
            </a:extLst>
          </p:cNvPr>
          <p:cNvSpPr>
            <a:spLocks xmlns:a="http://schemas.openxmlformats.org/drawingml/2006/main" noGrp="1"/>
          </p:cNvSpPr>
          <p:nvPr/>
        </p:nvSpPr>
        <p:spPr>
          <a:xfrm xmlns:a="http://schemas.openxmlformats.org/drawingml/2006/main">
            <a:off x="7315200" y="23145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Run Product and Order unit tests, Compose health checks, and container integration tests.</a:t>
            </a:r>
          </a:p>
        </p:txBody>
      </p:sp>
      <p:sp>
        <p:nvSpPr>
          <p:cNvPr id="22" name="">
            <a:extLst xmlns:a="http://schemas.openxmlformats.org/drawingml/2006/main">
              <a:ext uri="{FF2B5EF4-FFF2-40B4-BE49-F238E27FC236}">
                <a16:creationId xmlns:a16="http://schemas.microsoft.com/office/drawing/2014/main" id="{4B26BEE4-25CF-4B5F-9694-88EBC9919901}"/>
              </a:ext>
            </a:extLst>
          </p:cNvPr>
          <p:cNvSpPr>
            <a:spLocks xmlns:a="http://schemas.openxmlformats.org/drawingml/2006/main" noGrp="1"/>
          </p:cNvSpPr>
          <p:nvPr/>
        </p:nvSpPr>
        <p:spPr>
          <a:xfrm xmlns:a="http://schemas.openxmlformats.org/drawingml/2006/main">
            <a:off x="6877050" y="295275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2</a:t>
            </a:r>
          </a:p>
        </p:txBody>
      </p:sp>
      <p:sp>
        <p:nvSpPr>
          <p:cNvPr id="23" name="">
            <a:extLst xmlns:a="http://schemas.openxmlformats.org/drawingml/2006/main">
              <a:ext uri="{FF2B5EF4-FFF2-40B4-BE49-F238E27FC236}">
                <a16:creationId xmlns:a16="http://schemas.microsoft.com/office/drawing/2014/main" id="{BE3DC52E-BABA-4A19-A6F3-38DDEA3E616B}"/>
              </a:ext>
            </a:extLst>
          </p:cNvPr>
          <p:cNvSpPr>
            <a:spLocks xmlns:a="http://schemas.openxmlformats.org/drawingml/2006/main" noGrp="1"/>
          </p:cNvSpPr>
          <p:nvPr/>
        </p:nvSpPr>
        <p:spPr>
          <a:xfrm xmlns:a="http://schemas.openxmlformats.org/drawingml/2006/main">
            <a:off x="7315200" y="294322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Build and publish</a:t>
            </a:r>
          </a:p>
        </p:txBody>
      </p:sp>
      <p:sp>
        <p:nvSpPr>
          <p:cNvPr id="24" name="">
            <a:extLst xmlns:a="http://schemas.openxmlformats.org/drawingml/2006/main">
              <a:ext uri="{FF2B5EF4-FFF2-40B4-BE49-F238E27FC236}">
                <a16:creationId xmlns:a16="http://schemas.microsoft.com/office/drawing/2014/main" id="{826374C2-F8B8-4781-9B4A-9986431C76C2}"/>
              </a:ext>
            </a:extLst>
          </p:cNvPr>
          <p:cNvSpPr>
            <a:spLocks xmlns:a="http://schemas.openxmlformats.org/drawingml/2006/main" noGrp="1"/>
          </p:cNvSpPr>
          <p:nvPr/>
        </p:nvSpPr>
        <p:spPr>
          <a:xfrm xmlns:a="http://schemas.openxmlformats.org/drawingml/2006/main">
            <a:off x="7315200" y="31718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Build three images, tag them with the short commit SHA, then push to Amazon ECR.</a:t>
            </a:r>
          </a:p>
        </p:txBody>
      </p:sp>
      <p:sp>
        <p:nvSpPr>
          <p:cNvPr id="25" name="">
            <a:extLst xmlns:a="http://schemas.openxmlformats.org/drawingml/2006/main">
              <a:ext uri="{FF2B5EF4-FFF2-40B4-BE49-F238E27FC236}">
                <a16:creationId xmlns:a16="http://schemas.microsoft.com/office/drawing/2014/main" id="{4BE5A6AF-A9F1-4576-83AF-49E5D01E3708}"/>
              </a:ext>
            </a:extLst>
          </p:cNvPr>
          <p:cNvSpPr>
            <a:spLocks xmlns:a="http://schemas.openxmlformats.org/drawingml/2006/main" noGrp="1"/>
          </p:cNvSpPr>
          <p:nvPr/>
        </p:nvSpPr>
        <p:spPr>
          <a:xfrm xmlns:a="http://schemas.openxmlformats.org/drawingml/2006/main">
            <a:off x="6877050" y="381000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3</a:t>
            </a:r>
          </a:p>
        </p:txBody>
      </p:sp>
      <p:sp>
        <p:nvSpPr>
          <p:cNvPr id="26" name="">
            <a:extLst xmlns:a="http://schemas.openxmlformats.org/drawingml/2006/main">
              <a:ext uri="{FF2B5EF4-FFF2-40B4-BE49-F238E27FC236}">
                <a16:creationId xmlns:a16="http://schemas.microsoft.com/office/drawing/2014/main" id="{73EB3004-F401-41C8-9346-EF0E9DD84930}"/>
              </a:ext>
            </a:extLst>
          </p:cNvPr>
          <p:cNvSpPr>
            <a:spLocks xmlns:a="http://schemas.openxmlformats.org/drawingml/2006/main" noGrp="1"/>
          </p:cNvSpPr>
          <p:nvPr/>
        </p:nvSpPr>
        <p:spPr>
          <a:xfrm xmlns:a="http://schemas.openxmlformats.org/drawingml/2006/main">
            <a:off x="7315200" y="380047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Deploy and verify</a:t>
            </a:r>
          </a:p>
        </p:txBody>
      </p:sp>
      <p:sp>
        <p:nvSpPr>
          <p:cNvPr id="27" name="">
            <a:extLst xmlns:a="http://schemas.openxmlformats.org/drawingml/2006/main">
              <a:ext uri="{FF2B5EF4-FFF2-40B4-BE49-F238E27FC236}">
                <a16:creationId xmlns:a16="http://schemas.microsoft.com/office/drawing/2014/main" id="{9B6F6475-2EF3-431A-834A-B57948C8F432}"/>
              </a:ext>
            </a:extLst>
          </p:cNvPr>
          <p:cNvSpPr>
            <a:spLocks xmlns:a="http://schemas.openxmlformats.org/drawingml/2006/main" noGrp="1"/>
          </p:cNvSpPr>
          <p:nvPr/>
        </p:nvSpPr>
        <p:spPr>
          <a:xfrm xmlns:a="http://schemas.openxmlformats.org/drawingml/2006/main">
            <a:off x="7315200" y="40290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Create or update the Kubernetes Secret, apply manifests, update images, and wait for rollouts.</a:t>
            </a:r>
          </a:p>
        </p:txBody>
      </p:sp>
      <p:sp>
        <p:nvSpPr>
          <p:cNvPr id="28" name="">
            <a:extLst xmlns:a="http://schemas.openxmlformats.org/drawingml/2006/main">
              <a:ext uri="{FF2B5EF4-FFF2-40B4-BE49-F238E27FC236}">
                <a16:creationId xmlns:a16="http://schemas.microsoft.com/office/drawing/2014/main" id="{4F34785F-FBA1-4E6D-BFFB-8DB566C9DC23}"/>
              </a:ext>
            </a:extLst>
          </p:cNvPr>
          <p:cNvSpPr>
            <a:spLocks xmlns:a="http://schemas.openxmlformats.org/drawingml/2006/main" noGrp="1"/>
          </p:cNvSpPr>
          <p:nvPr/>
        </p:nvSpPr>
        <p:spPr>
          <a:xfrm xmlns:a="http://schemas.openxmlformats.org/drawingml/2006/main">
            <a:off x="647700" y="56673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34495E"/>
                </a:solidFill>
                <a:latin typeface="Bitstream Charter"/>
                <a:ea typeface="Bitstream Charter"/>
                <a:cs typeface="Bitstream Charter"/>
              </a:defRPr>
            </a:pPr>
            <a:r>
              <a:rPr sz="1200" b="0">
                <a:solidFill>
                  <a:srgbClr val="34495E"/>
                </a:solidFill>
                <a:latin typeface="Bitstream Charter"/>
                <a:ea typeface="Bitstream Charter"/>
                <a:cs typeface="Bitstream Charter"/>
              </a:rPr>
              <a:t>The Compose cleanup step uses always(), so test containers are removed even when a check fails.</a:t>
            </a:r>
          </a:p>
        </p:txBody>
      </p:sp>
    </p:spTree>
    <p:extLst>
      <p:ext uri="{BB962C8B-B14F-4D97-AF65-F5344CB8AC3E}">
        <p14:creationId xmlns:p14="http://schemas.microsoft.com/office/powerpoint/2010/main" val="1391370316"/>
      </p:ext>
    </p:extLst>
  </p:cSld>
</p:sld>
</file>

<file path=ppt/slides/slide4.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B6874B6-B050-419D-B438-9255749FC24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6A477F-1D56-418B-909F-30FC85CB3688}"/>
              </a:ext>
            </a:extLst>
          </p:cNvPr>
          <p:cNvSpPr>
            <a:spLocks xmlns:a="http://schemas.openxmlformats.org/drawingml/2006/main" noGrp="1"/>
          </p:cNvSpPr>
          <p:nvPr/>
        </p:nvSpPr>
        <p:spPr>
          <a:xfrm xmlns:a="http://schemas.openxmlformats.org/drawingml/2006/main">
            <a:off x="647700" y="4000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203C55"/>
                </a:solidFill>
                <a:latin typeface="Bitstream Charter"/>
                <a:ea typeface="Bitstream Charter"/>
                <a:cs typeface="Bitstream Charter"/>
              </a:defRPr>
            </a:pPr>
            <a:r>
              <a:rPr sz="2550" b="1">
                <a:solidFill>
                  <a:srgbClr val="203C55"/>
                </a:solidFill>
                <a:latin typeface="Bitstream Charter"/>
                <a:ea typeface="Bitstream Charter"/>
                <a:cs typeface="Bitstream Charter"/>
              </a:rPr>
              <a:t>Codebase walkthrough</a:t>
            </a:r>
          </a:p>
        </p:txBody>
      </p:sp>
      <p:sp>
        <p:nvSpPr>
          <p:cNvPr id="3" name="">
            <a:extLst xmlns:a="http://schemas.openxmlformats.org/drawingml/2006/main">
              <a:ext uri="{FF2B5EF4-FFF2-40B4-BE49-F238E27FC236}">
                <a16:creationId xmlns:a16="http://schemas.microsoft.com/office/drawing/2014/main" id="{B7672EA5-9AD5-4EF3-9952-8BFF42D7FB78}"/>
              </a:ext>
            </a:extLst>
          </p:cNvPr>
          <p:cNvSpPr>
            <a:spLocks xmlns:a="http://schemas.openxmlformats.org/drawingml/2006/main" noGrp="1"/>
          </p:cNvSpPr>
          <p:nvPr/>
        </p:nvSpPr>
        <p:spPr>
          <a:xfrm xmlns:a="http://schemas.openxmlformats.org/drawingml/2006/main">
            <a:off x="647700" y="962025"/>
            <a:ext cx="1047750" cy="38100"/>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88657A-20C4-4B2C-AF86-B7A93FF70EA3}"/>
              </a:ext>
            </a:extLst>
          </p:cNvPr>
          <p:cNvSpPr>
            <a:spLocks xmlns:a="http://schemas.openxmlformats.org/drawingml/2006/main" noGrp="1"/>
          </p:cNvSpPr>
          <p:nvPr/>
        </p:nvSpPr>
        <p:spPr>
          <a:xfrm xmlns:a="http://schemas.openxmlformats.org/drawingml/2006/main">
            <a:off x="647700" y="64865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08296"/>
                </a:solidFill>
                <a:latin typeface="Bitstream Charter"/>
                <a:ea typeface="Bitstream Charter"/>
                <a:cs typeface="Bitstream Charter"/>
              </a:defRPr>
            </a:pPr>
            <a:r>
              <a:rPr sz="825" b="0">
                <a:solidFill>
                  <a:srgbClr val="708296"/>
                </a:solidFill>
                <a:latin typeface="Bitstream Charter"/>
                <a:ea typeface="Bitstream Charter"/>
                <a:cs typeface="Bitstream Charter"/>
              </a:rPr>
              <a:t>E-Commerce DevOps Platform   |   4 / 6</a:t>
            </a:r>
          </a:p>
        </p:txBody>
      </p:sp>
      <p:sp>
        <p:nvSpPr>
          <p:cNvPr id="5" name="">
            <a:extLst xmlns:a="http://schemas.openxmlformats.org/drawingml/2006/main">
              <a:ext uri="{FF2B5EF4-FFF2-40B4-BE49-F238E27FC236}">
                <a16:creationId xmlns:a16="http://schemas.microsoft.com/office/drawing/2014/main" id="{E943663D-5C79-4096-905B-0A7D6C4C6E13}"/>
              </a:ext>
            </a:extLst>
          </p:cNvPr>
          <p:cNvSpPr>
            <a:spLocks xmlns:a="http://schemas.openxmlformats.org/drawingml/2006/main" noGrp="1"/>
          </p:cNvSpPr>
          <p:nvPr/>
        </p:nvSpPr>
        <p:spPr>
          <a:xfrm xmlns:a="http://schemas.openxmlformats.org/drawingml/2006/main">
            <a:off x="647700" y="1143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708296"/>
                </a:solidFill>
                <a:latin typeface="Bitstream Charter"/>
                <a:ea typeface="Bitstream Charter"/>
                <a:cs typeface="Bitstream Charter"/>
              </a:defRPr>
            </a:pPr>
            <a:r>
              <a:rPr sz="1275" b="0">
                <a:solidFill>
                  <a:srgbClr val="708296"/>
                </a:solidFill>
                <a:latin typeface="Bitstream Charter"/>
                <a:ea typeface="Bitstream Charter"/>
                <a:cs typeface="Bitstream Charter"/>
              </a:rPr>
              <a:t>Use this slide as the transition to the live repository. Show only the files that support the story.</a:t>
            </a:r>
          </a:p>
        </p:txBody>
      </p:sp>
      <p:sp>
        <p:nvSpPr>
          <p:cNvPr id="6" name="">
            <a:extLst xmlns:a="http://schemas.openxmlformats.org/drawingml/2006/main">
              <a:ext uri="{FF2B5EF4-FFF2-40B4-BE49-F238E27FC236}">
                <a16:creationId xmlns:a16="http://schemas.microsoft.com/office/drawing/2014/main" id="{F4C6D504-33EF-4158-B0FE-38725788FCD3}"/>
              </a:ext>
            </a:extLst>
          </p:cNvPr>
          <p:cNvSpPr>
            <a:spLocks xmlns:a="http://schemas.openxmlformats.org/drawingml/2006/main" noGrp="1"/>
          </p:cNvSpPr>
          <p:nvPr/>
        </p:nvSpPr>
        <p:spPr>
          <a:xfrm xmlns:a="http://schemas.openxmlformats.org/drawingml/2006/main">
            <a:off x="647700" y="1619250"/>
            <a:ext cx="4905375" cy="3962400"/>
          </a:xfrm>
          <a:prstGeom xmlns:a="http://schemas.openxmlformats.org/drawingml/2006/main" prst="rect">
            <a:avLst/>
          </a:prstGeom>
          <a:solidFill xmlns:a="http://schemas.openxmlformats.org/drawingml/2006/main">
            <a:srgbClr val="FFFFFF"/>
          </a:solidFill>
          <a:ln xmlns:a="http://schemas.openxmlformats.org/drawingml/2006/main" w="9525">
            <a:solidFill>
              <a:srgbClr val="C9DCE3"/>
            </a:solidFill>
          </a:ln>
        </p:spPr>
      </p:sp>
      <p:sp>
        <p:nvSpPr>
          <p:cNvPr id="7" name="">
            <a:extLst xmlns:a="http://schemas.openxmlformats.org/drawingml/2006/main">
              <a:ext uri="{FF2B5EF4-FFF2-40B4-BE49-F238E27FC236}">
                <a16:creationId xmlns:a16="http://schemas.microsoft.com/office/drawing/2014/main" id="{D77B8F12-B591-475A-91AD-B3BB258DCFF8}"/>
              </a:ext>
            </a:extLst>
          </p:cNvPr>
          <p:cNvSpPr>
            <a:spLocks xmlns:a="http://schemas.openxmlformats.org/drawingml/2006/main" noGrp="1"/>
          </p:cNvSpPr>
          <p:nvPr/>
        </p:nvSpPr>
        <p:spPr>
          <a:xfrm xmlns:a="http://schemas.openxmlformats.org/drawingml/2006/main">
            <a:off x="876300" y="183832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203C55"/>
                </a:solidFill>
                <a:latin typeface="Bitstream Charter"/>
                <a:ea typeface="Bitstream Charter"/>
                <a:cs typeface="Bitstream Charter"/>
              </a:defRPr>
            </a:pPr>
            <a:r>
              <a:rPr sz="1500" b="1">
                <a:solidFill>
                  <a:srgbClr val="203C55"/>
                </a:solidFill>
                <a:latin typeface="Bitstream Charter"/>
                <a:ea typeface="Bitstream Charter"/>
                <a:cs typeface="Bitstream Charter"/>
              </a:rPr>
              <a:t>Repository structure</a:t>
            </a:r>
          </a:p>
        </p:txBody>
      </p:sp>
      <p:sp>
        <p:nvSpPr>
          <p:cNvPr id="8" name="">
            <a:extLst xmlns:a="http://schemas.openxmlformats.org/drawingml/2006/main">
              <a:ext uri="{FF2B5EF4-FFF2-40B4-BE49-F238E27FC236}">
                <a16:creationId xmlns:a16="http://schemas.microsoft.com/office/drawing/2014/main" id="{87FFF37E-8DCC-4A23-B5E2-474A04F459D5}"/>
              </a:ext>
            </a:extLst>
          </p:cNvPr>
          <p:cNvSpPr>
            <a:spLocks xmlns:a="http://schemas.openxmlformats.org/drawingml/2006/main" noGrp="1"/>
          </p:cNvSpPr>
          <p:nvPr/>
        </p:nvSpPr>
        <p:spPr>
          <a:xfrm xmlns:a="http://schemas.openxmlformats.org/drawingml/2006/main">
            <a:off x="1000125" y="2333625"/>
            <a:ext cx="3524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34495E"/>
                </a:solidFill>
                <a:latin typeface="Bitstream Charter"/>
                <a:ea typeface="Bitstream Charter"/>
                <a:cs typeface="Bitstream Charter"/>
              </a:defRPr>
            </a:pPr>
            <a:r>
              <a:rPr sz="1350" b="0">
                <a:solidFill>
                  <a:srgbClr val="34495E"/>
                </a:solidFill>
                <a:latin typeface="Bitstream Charter"/>
                <a:ea typeface="Bitstream Charter"/>
                <a:cs typeface="Bitstream Charter"/>
              </a:rPr>
              <a:t>.</a:t>
            </a:r>
          </a:p>
          <a:p xmlns:a="http://schemas.openxmlformats.org/drawingml/2006/main">
            <a:pPr algn="l">
              <a:defRPr sz="1350" b="0">
                <a:solidFill>
                  <a:srgbClr val="34495E"/>
                </a:solidFill>
                <a:latin typeface="Bitstream Charter"/>
                <a:ea typeface="Bitstream Charter"/>
                <a:cs typeface="Bitstream Charter"/>
              </a:defRPr>
            </a:pPr>
            <a:r>
              <a:rPr sz="1350" b="0">
                <a:solidFill>
                  <a:srgbClr val="34495E"/>
                </a:solidFill>
                <a:latin typeface="Bitstream Charter"/>
                <a:ea typeface="Bitstream Charter"/>
                <a:cs typeface="Bitstream Charter"/>
              </a:rPr>
              <a:t>├── front_end/</a:t>
            </a:r>
          </a:p>
          <a:p xmlns:a="http://schemas.openxmlformats.org/drawingml/2006/main">
            <a:pPr algn="l">
              <a:defRPr sz="1350" b="0">
                <a:solidFill>
                  <a:srgbClr val="34495E"/>
                </a:solidFill>
                <a:latin typeface="Bitstream Charter"/>
                <a:ea typeface="Bitstream Charter"/>
                <a:cs typeface="Bitstream Charter"/>
              </a:defRPr>
            </a:pPr>
            <a:r>
              <a:rPr sz="1350" b="0">
                <a:solidFill>
                  <a:srgbClr val="34495E"/>
                </a:solidFill>
                <a:latin typeface="Bitstream Charter"/>
                <a:ea typeface="Bitstream Charter"/>
                <a:cs typeface="Bitstream Charter"/>
              </a:rPr>
              <a:t>├── product_services/</a:t>
            </a:r>
          </a:p>
          <a:p xmlns:a="http://schemas.openxmlformats.org/drawingml/2006/main">
            <a:pPr algn="l">
              <a:defRPr sz="1350" b="0">
                <a:solidFill>
                  <a:srgbClr val="34495E"/>
                </a:solidFill>
                <a:latin typeface="Bitstream Charter"/>
                <a:ea typeface="Bitstream Charter"/>
                <a:cs typeface="Bitstream Charter"/>
              </a:defRPr>
            </a:pPr>
            <a:r>
              <a:rPr sz="1350" b="0">
                <a:solidFill>
                  <a:srgbClr val="34495E"/>
                </a:solidFill>
                <a:latin typeface="Bitstream Charter"/>
                <a:ea typeface="Bitstream Charter"/>
                <a:cs typeface="Bitstream Charter"/>
              </a:rPr>
              <a:t>├── order_service/</a:t>
            </a:r>
          </a:p>
          <a:p xmlns:a="http://schemas.openxmlformats.org/drawingml/2006/main">
            <a:pPr algn="l">
              <a:defRPr sz="1350" b="0">
                <a:solidFill>
                  <a:srgbClr val="34495E"/>
                </a:solidFill>
                <a:latin typeface="Bitstream Charter"/>
                <a:ea typeface="Bitstream Charter"/>
                <a:cs typeface="Bitstream Charter"/>
              </a:defRPr>
            </a:pPr>
            <a:r>
              <a:rPr sz="1350" b="0">
                <a:solidFill>
                  <a:srgbClr val="34495E"/>
                </a:solidFill>
                <a:latin typeface="Bitstream Charter"/>
                <a:ea typeface="Bitstream Charter"/>
                <a:cs typeface="Bitstream Charter"/>
              </a:rPr>
              <a:t>├── Dockerfile</a:t>
            </a:r>
          </a:p>
          <a:p xmlns:a="http://schemas.openxmlformats.org/drawingml/2006/main">
            <a:pPr algn="l">
              <a:defRPr sz="1350" b="0">
                <a:solidFill>
                  <a:srgbClr val="34495E"/>
                </a:solidFill>
                <a:latin typeface="Bitstream Charter"/>
                <a:ea typeface="Bitstream Charter"/>
                <a:cs typeface="Bitstream Charter"/>
              </a:defRPr>
            </a:pPr>
            <a:r>
              <a:rPr sz="1350" b="0">
                <a:solidFill>
                  <a:srgbClr val="34495E"/>
                </a:solidFill>
                <a:latin typeface="Bitstream Charter"/>
                <a:ea typeface="Bitstream Charter"/>
                <a:cs typeface="Bitstream Charter"/>
              </a:rPr>
              <a:t>├── docker-compose.yml</a:t>
            </a:r>
          </a:p>
          <a:p xmlns:a="http://schemas.openxmlformats.org/drawingml/2006/main">
            <a:pPr algn="l">
              <a:defRPr sz="1350" b="0">
                <a:solidFill>
                  <a:srgbClr val="34495E"/>
                </a:solidFill>
                <a:latin typeface="Bitstream Charter"/>
                <a:ea typeface="Bitstream Charter"/>
                <a:cs typeface="Bitstream Charter"/>
              </a:defRPr>
            </a:pPr>
            <a:r>
              <a:rPr sz="1350" b="0">
                <a:solidFill>
                  <a:srgbClr val="34495E"/>
                </a:solidFill>
                <a:latin typeface="Bitstream Charter"/>
                <a:ea typeface="Bitstream Charter"/>
                <a:cs typeface="Bitstream Charter"/>
              </a:rPr>
              <a:t>├── kubernetes/</a:t>
            </a:r>
          </a:p>
          <a:p xmlns:a="http://schemas.openxmlformats.org/drawingml/2006/main">
            <a:pPr algn="l">
              <a:defRPr sz="1350" b="0">
                <a:solidFill>
                  <a:srgbClr val="34495E"/>
                </a:solidFill>
                <a:latin typeface="Bitstream Charter"/>
                <a:ea typeface="Bitstream Charter"/>
                <a:cs typeface="Bitstream Charter"/>
              </a:defRPr>
            </a:pPr>
            <a:r>
              <a:rPr sz="1350" b="0">
                <a:solidFill>
                  <a:srgbClr val="34495E"/>
                </a:solidFill>
                <a:latin typeface="Bitstream Charter"/>
                <a:ea typeface="Bitstream Charter"/>
                <a:cs typeface="Bitstream Charter"/>
              </a:rPr>
              <a:t>├── terraform/</a:t>
            </a:r>
          </a:p>
          <a:p xmlns:a="http://schemas.openxmlformats.org/drawingml/2006/main">
            <a:pPr algn="l">
              <a:defRPr sz="1350" b="0">
                <a:solidFill>
                  <a:srgbClr val="34495E"/>
                </a:solidFill>
                <a:latin typeface="Bitstream Charter"/>
                <a:ea typeface="Bitstream Charter"/>
                <a:cs typeface="Bitstream Charter"/>
              </a:defRPr>
            </a:pPr>
            <a:r>
              <a:rPr sz="1350" b="0">
                <a:solidFill>
                  <a:srgbClr val="34495E"/>
                </a:solidFill>
                <a:latin typeface="Bitstream Charter"/>
                <a:ea typeface="Bitstream Charter"/>
                <a:cs typeface="Bitstream Charter"/>
              </a:rPr>
              <a:t>├── tests/</a:t>
            </a:r>
          </a:p>
          <a:p xmlns:a="http://schemas.openxmlformats.org/drawingml/2006/main">
            <a:pPr algn="l">
              <a:defRPr sz="1350" b="0">
                <a:solidFill>
                  <a:srgbClr val="34495E"/>
                </a:solidFill>
                <a:latin typeface="Bitstream Charter"/>
                <a:ea typeface="Bitstream Charter"/>
                <a:cs typeface="Bitstream Charter"/>
              </a:defRPr>
            </a:pPr>
            <a:r>
              <a:rPr sz="1350" b="0">
                <a:solidFill>
                  <a:srgbClr val="34495E"/>
                </a:solidFill>
                <a:latin typeface="Bitstream Charter"/>
                <a:ea typeface="Bitstream Charter"/>
                <a:cs typeface="Bitstream Charter"/>
              </a:rPr>
              <a:t>├── Docs/</a:t>
            </a:r>
          </a:p>
          <a:p xmlns:a="http://schemas.openxmlformats.org/drawingml/2006/main">
            <a:pPr algn="l">
              <a:defRPr sz="1350" b="0">
                <a:solidFill>
                  <a:srgbClr val="34495E"/>
                </a:solidFill>
                <a:latin typeface="Bitstream Charter"/>
                <a:ea typeface="Bitstream Charter"/>
                <a:cs typeface="Bitstream Charter"/>
              </a:defRPr>
            </a:pPr>
            <a:r>
              <a:rPr sz="1350" b="0">
                <a:solidFill>
                  <a:srgbClr val="34495E"/>
                </a:solidFill>
                <a:latin typeface="Bitstream Charter"/>
                <a:ea typeface="Bitstream Charter"/>
                <a:cs typeface="Bitstream Charter"/>
              </a:rPr>
              <a:t>└── .github/workflows/</a:t>
            </a:r>
          </a:p>
        </p:txBody>
      </p:sp>
      <p:sp>
        <p:nvSpPr>
          <p:cNvPr id="9" name="">
            <a:extLst xmlns:a="http://schemas.openxmlformats.org/drawingml/2006/main">
              <a:ext uri="{FF2B5EF4-FFF2-40B4-BE49-F238E27FC236}">
                <a16:creationId xmlns:a16="http://schemas.microsoft.com/office/drawing/2014/main" id="{8357F80C-1658-443F-AA5A-A7C5CFD05255}"/>
              </a:ext>
            </a:extLst>
          </p:cNvPr>
          <p:cNvSpPr>
            <a:spLocks xmlns:a="http://schemas.openxmlformats.org/drawingml/2006/main" noGrp="1"/>
          </p:cNvSpPr>
          <p:nvPr/>
        </p:nvSpPr>
        <p:spPr>
          <a:xfrm xmlns:a="http://schemas.openxmlformats.org/drawingml/2006/main">
            <a:off x="6076950" y="1619250"/>
            <a:ext cx="5467350" cy="3962400"/>
          </a:xfrm>
          <a:prstGeom xmlns:a="http://schemas.openxmlformats.org/drawingml/2006/main" prst="rect">
            <a:avLst/>
          </a:prstGeom>
          <a:solidFill xmlns:a="http://schemas.openxmlformats.org/drawingml/2006/main">
            <a:srgbClr val="FFFFFF"/>
          </a:solidFill>
          <a:ln xmlns:a="http://schemas.openxmlformats.org/drawingml/2006/main" w="9525">
            <a:solidFill>
              <a:srgbClr val="C9DCE3"/>
            </a:solidFill>
          </a:ln>
        </p:spPr>
      </p:sp>
      <p:sp>
        <p:nvSpPr>
          <p:cNvPr id="10" name="">
            <a:extLst xmlns:a="http://schemas.openxmlformats.org/drawingml/2006/main">
              <a:ext uri="{FF2B5EF4-FFF2-40B4-BE49-F238E27FC236}">
                <a16:creationId xmlns:a16="http://schemas.microsoft.com/office/drawing/2014/main" id="{C3AF2CE9-C91A-4A0C-A7BE-54008CEAEC57}"/>
              </a:ext>
            </a:extLst>
          </p:cNvPr>
          <p:cNvSpPr>
            <a:spLocks xmlns:a="http://schemas.openxmlformats.org/drawingml/2006/main" noGrp="1"/>
          </p:cNvSpPr>
          <p:nvPr/>
        </p:nvSpPr>
        <p:spPr>
          <a:xfrm xmlns:a="http://schemas.openxmlformats.org/drawingml/2006/main">
            <a:off x="6381750" y="183832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00" b="1">
                <a:solidFill>
                  <a:srgbClr val="203C55"/>
                </a:solidFill>
                <a:latin typeface="Bitstream Charter"/>
                <a:ea typeface="Bitstream Charter"/>
                <a:cs typeface="Bitstream Charter"/>
              </a:defRPr>
            </a:pPr>
            <a:r>
              <a:rPr sz="1500" b="1">
                <a:solidFill>
                  <a:srgbClr val="203C55"/>
                </a:solidFill>
                <a:latin typeface="Bitstream Charter"/>
                <a:ea typeface="Bitstream Charter"/>
                <a:cs typeface="Bitstream Charter"/>
              </a:rPr>
              <a:t>Live walkthrough order</a:t>
            </a:r>
          </a:p>
        </p:txBody>
      </p:sp>
      <p:sp>
        <p:nvSpPr>
          <p:cNvPr id="11" name="">
            <a:extLst xmlns:a="http://schemas.openxmlformats.org/drawingml/2006/main">
              <a:ext uri="{FF2B5EF4-FFF2-40B4-BE49-F238E27FC236}">
                <a16:creationId xmlns:a16="http://schemas.microsoft.com/office/drawing/2014/main" id="{6B231B67-E2A6-49BC-8C2A-359164CF40EF}"/>
              </a:ext>
            </a:extLst>
          </p:cNvPr>
          <p:cNvSpPr>
            <a:spLocks xmlns:a="http://schemas.openxmlformats.org/drawingml/2006/main" noGrp="1"/>
          </p:cNvSpPr>
          <p:nvPr/>
        </p:nvSpPr>
        <p:spPr>
          <a:xfrm xmlns:a="http://schemas.openxmlformats.org/drawingml/2006/main">
            <a:off x="6381750" y="2333625"/>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1</a:t>
            </a:r>
          </a:p>
        </p:txBody>
      </p:sp>
      <p:sp>
        <p:nvSpPr>
          <p:cNvPr id="12" name="">
            <a:extLst xmlns:a="http://schemas.openxmlformats.org/drawingml/2006/main">
              <a:ext uri="{FF2B5EF4-FFF2-40B4-BE49-F238E27FC236}">
                <a16:creationId xmlns:a16="http://schemas.microsoft.com/office/drawing/2014/main" id="{BF29D5B2-A509-41F3-87BC-1B2095E5E80C}"/>
              </a:ext>
            </a:extLst>
          </p:cNvPr>
          <p:cNvSpPr>
            <a:spLocks xmlns:a="http://schemas.openxmlformats.org/drawingml/2006/main" noGrp="1"/>
          </p:cNvSpPr>
          <p:nvPr/>
        </p:nvSpPr>
        <p:spPr>
          <a:xfrm xmlns:a="http://schemas.openxmlformats.org/drawingml/2006/main">
            <a:off x="6819900" y="2324100"/>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Container build</a:t>
            </a:r>
          </a:p>
        </p:txBody>
      </p:sp>
      <p:sp>
        <p:nvSpPr>
          <p:cNvPr id="13" name="">
            <a:extLst xmlns:a="http://schemas.openxmlformats.org/drawingml/2006/main">
              <a:ext uri="{FF2B5EF4-FFF2-40B4-BE49-F238E27FC236}">
                <a16:creationId xmlns:a16="http://schemas.microsoft.com/office/drawing/2014/main" id="{F21F34FC-78A7-41C8-BD04-F993991C93BB}"/>
              </a:ext>
            </a:extLst>
          </p:cNvPr>
          <p:cNvSpPr>
            <a:spLocks xmlns:a="http://schemas.openxmlformats.org/drawingml/2006/main" noGrp="1"/>
          </p:cNvSpPr>
          <p:nvPr/>
        </p:nvSpPr>
        <p:spPr>
          <a:xfrm xmlns:a="http://schemas.openxmlformats.org/drawingml/2006/main">
            <a:off x="6819900" y="25527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Dockerfile and docker-compose.yml</a:t>
            </a:r>
          </a:p>
        </p:txBody>
      </p:sp>
      <p:sp>
        <p:nvSpPr>
          <p:cNvPr id="14" name="">
            <a:extLst xmlns:a="http://schemas.openxmlformats.org/drawingml/2006/main">
              <a:ext uri="{FF2B5EF4-FFF2-40B4-BE49-F238E27FC236}">
                <a16:creationId xmlns:a16="http://schemas.microsoft.com/office/drawing/2014/main" id="{B0B5194D-71EE-48A2-AE15-40B372DCFA77}"/>
              </a:ext>
            </a:extLst>
          </p:cNvPr>
          <p:cNvSpPr>
            <a:spLocks xmlns:a="http://schemas.openxmlformats.org/drawingml/2006/main" noGrp="1"/>
          </p:cNvSpPr>
          <p:nvPr/>
        </p:nvSpPr>
        <p:spPr>
          <a:xfrm xmlns:a="http://schemas.openxmlformats.org/drawingml/2006/main">
            <a:off x="6381750" y="3000375"/>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2</a:t>
            </a:r>
          </a:p>
        </p:txBody>
      </p:sp>
      <p:sp>
        <p:nvSpPr>
          <p:cNvPr id="15" name="">
            <a:extLst xmlns:a="http://schemas.openxmlformats.org/drawingml/2006/main">
              <a:ext uri="{FF2B5EF4-FFF2-40B4-BE49-F238E27FC236}">
                <a16:creationId xmlns:a16="http://schemas.microsoft.com/office/drawing/2014/main" id="{2B831414-17C6-4F4E-9119-3E7D38907FA6}"/>
              </a:ext>
            </a:extLst>
          </p:cNvPr>
          <p:cNvSpPr>
            <a:spLocks xmlns:a="http://schemas.openxmlformats.org/drawingml/2006/main" noGrp="1"/>
          </p:cNvSpPr>
          <p:nvPr/>
        </p:nvSpPr>
        <p:spPr>
          <a:xfrm xmlns:a="http://schemas.openxmlformats.org/drawingml/2006/main">
            <a:off x="6819900" y="2990850"/>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Application and tests</a:t>
            </a:r>
          </a:p>
        </p:txBody>
      </p:sp>
      <p:sp>
        <p:nvSpPr>
          <p:cNvPr id="16" name="">
            <a:extLst xmlns:a="http://schemas.openxmlformats.org/drawingml/2006/main">
              <a:ext uri="{FF2B5EF4-FFF2-40B4-BE49-F238E27FC236}">
                <a16:creationId xmlns:a16="http://schemas.microsoft.com/office/drawing/2014/main" id="{A4BA2E2D-BD4D-4ED3-91D5-0A9D0E3C4EEA}"/>
              </a:ext>
            </a:extLst>
          </p:cNvPr>
          <p:cNvSpPr>
            <a:spLocks xmlns:a="http://schemas.openxmlformats.org/drawingml/2006/main" noGrp="1"/>
          </p:cNvSpPr>
          <p:nvPr/>
        </p:nvSpPr>
        <p:spPr>
          <a:xfrm xmlns:a="http://schemas.openxmlformats.org/drawingml/2006/main">
            <a:off x="6819900" y="32194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Product and Order APIs, then unit and integration tests</a:t>
            </a:r>
          </a:p>
        </p:txBody>
      </p:sp>
      <p:sp>
        <p:nvSpPr>
          <p:cNvPr id="17" name="">
            <a:extLst xmlns:a="http://schemas.openxmlformats.org/drawingml/2006/main">
              <a:ext uri="{FF2B5EF4-FFF2-40B4-BE49-F238E27FC236}">
                <a16:creationId xmlns:a16="http://schemas.microsoft.com/office/drawing/2014/main" id="{3BEF08D4-4E86-4388-9985-C38C97932F1D}"/>
              </a:ext>
            </a:extLst>
          </p:cNvPr>
          <p:cNvSpPr>
            <a:spLocks xmlns:a="http://schemas.openxmlformats.org/drawingml/2006/main" noGrp="1"/>
          </p:cNvSpPr>
          <p:nvPr/>
        </p:nvSpPr>
        <p:spPr>
          <a:xfrm xmlns:a="http://schemas.openxmlformats.org/drawingml/2006/main">
            <a:off x="6381750" y="3667125"/>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3</a:t>
            </a:r>
          </a:p>
        </p:txBody>
      </p:sp>
      <p:sp>
        <p:nvSpPr>
          <p:cNvPr id="18" name="">
            <a:extLst xmlns:a="http://schemas.openxmlformats.org/drawingml/2006/main">
              <a:ext uri="{FF2B5EF4-FFF2-40B4-BE49-F238E27FC236}">
                <a16:creationId xmlns:a16="http://schemas.microsoft.com/office/drawing/2014/main" id="{1B4B241B-B065-4097-B9A5-48AFCF1E885F}"/>
              </a:ext>
            </a:extLst>
          </p:cNvPr>
          <p:cNvSpPr>
            <a:spLocks xmlns:a="http://schemas.openxmlformats.org/drawingml/2006/main" noGrp="1"/>
          </p:cNvSpPr>
          <p:nvPr/>
        </p:nvSpPr>
        <p:spPr>
          <a:xfrm xmlns:a="http://schemas.openxmlformats.org/drawingml/2006/main">
            <a:off x="6819900" y="3657600"/>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Kubernetes runtime</a:t>
            </a:r>
          </a:p>
        </p:txBody>
      </p:sp>
      <p:sp>
        <p:nvSpPr>
          <p:cNvPr id="19" name="">
            <a:extLst xmlns:a="http://schemas.openxmlformats.org/drawingml/2006/main">
              <a:ext uri="{FF2B5EF4-FFF2-40B4-BE49-F238E27FC236}">
                <a16:creationId xmlns:a16="http://schemas.microsoft.com/office/drawing/2014/main" id="{26A8901D-6C89-4FF5-A1DE-5AF13126BEED}"/>
              </a:ext>
            </a:extLst>
          </p:cNvPr>
          <p:cNvSpPr>
            <a:spLocks xmlns:a="http://schemas.openxmlformats.org/drawingml/2006/main" noGrp="1"/>
          </p:cNvSpPr>
          <p:nvPr/>
        </p:nvSpPr>
        <p:spPr>
          <a:xfrm xmlns:a="http://schemas.openxmlformats.org/drawingml/2006/main">
            <a:off x="6819900" y="38862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Deployments, Services, probes, HPA, and Ingress</a:t>
            </a:r>
          </a:p>
        </p:txBody>
      </p:sp>
      <p:sp>
        <p:nvSpPr>
          <p:cNvPr id="20" name="">
            <a:extLst xmlns:a="http://schemas.openxmlformats.org/drawingml/2006/main">
              <a:ext uri="{FF2B5EF4-FFF2-40B4-BE49-F238E27FC236}">
                <a16:creationId xmlns:a16="http://schemas.microsoft.com/office/drawing/2014/main" id="{D7613488-D14A-4E87-A902-366246B9D4EA}"/>
              </a:ext>
            </a:extLst>
          </p:cNvPr>
          <p:cNvSpPr>
            <a:spLocks xmlns:a="http://schemas.openxmlformats.org/drawingml/2006/main" noGrp="1"/>
          </p:cNvSpPr>
          <p:nvPr/>
        </p:nvSpPr>
        <p:spPr>
          <a:xfrm xmlns:a="http://schemas.openxmlformats.org/drawingml/2006/main">
            <a:off x="6381750" y="4333875"/>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4</a:t>
            </a:r>
          </a:p>
        </p:txBody>
      </p:sp>
      <p:sp>
        <p:nvSpPr>
          <p:cNvPr id="21" name="">
            <a:extLst xmlns:a="http://schemas.openxmlformats.org/drawingml/2006/main">
              <a:ext uri="{FF2B5EF4-FFF2-40B4-BE49-F238E27FC236}">
                <a16:creationId xmlns:a16="http://schemas.microsoft.com/office/drawing/2014/main" id="{BF8A8567-C310-4C12-AD58-D563091B8B24}"/>
              </a:ext>
            </a:extLst>
          </p:cNvPr>
          <p:cNvSpPr>
            <a:spLocks xmlns:a="http://schemas.openxmlformats.org/drawingml/2006/main" noGrp="1"/>
          </p:cNvSpPr>
          <p:nvPr/>
        </p:nvSpPr>
        <p:spPr>
          <a:xfrm xmlns:a="http://schemas.openxmlformats.org/drawingml/2006/main">
            <a:off x="6819900" y="4324350"/>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Cloud infrastructure</a:t>
            </a:r>
          </a:p>
        </p:txBody>
      </p:sp>
      <p:sp>
        <p:nvSpPr>
          <p:cNvPr id="22" name="">
            <a:extLst xmlns:a="http://schemas.openxmlformats.org/drawingml/2006/main">
              <a:ext uri="{FF2B5EF4-FFF2-40B4-BE49-F238E27FC236}">
                <a16:creationId xmlns:a16="http://schemas.microsoft.com/office/drawing/2014/main" id="{E34E0100-1176-4162-8F97-66EE746D6B46}"/>
              </a:ext>
            </a:extLst>
          </p:cNvPr>
          <p:cNvSpPr>
            <a:spLocks xmlns:a="http://schemas.openxmlformats.org/drawingml/2006/main" noGrp="1"/>
          </p:cNvSpPr>
          <p:nvPr/>
        </p:nvSpPr>
        <p:spPr>
          <a:xfrm xmlns:a="http://schemas.openxmlformats.org/drawingml/2006/main">
            <a:off x="6819900" y="45529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Terraform resources and the two GitHub Actions workflows</a:t>
            </a:r>
          </a:p>
        </p:txBody>
      </p:sp>
    </p:spTree>
    <p:extLst>
      <p:ext uri="{BB962C8B-B14F-4D97-AF65-F5344CB8AC3E}">
        <p14:creationId xmlns:p14="http://schemas.microsoft.com/office/powerpoint/2010/main" val="810359298"/>
      </p:ext>
    </p:extLst>
  </p:cSld>
</p:sld>
</file>

<file path=ppt/slides/slide5.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DC68FFF-2CB3-43A9-9097-575CD8FAD94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9D37F6-2580-4D4D-8A2A-D0524AFA8080}"/>
              </a:ext>
            </a:extLst>
          </p:cNvPr>
          <p:cNvSpPr>
            <a:spLocks xmlns:a="http://schemas.openxmlformats.org/drawingml/2006/main" noGrp="1"/>
          </p:cNvSpPr>
          <p:nvPr/>
        </p:nvSpPr>
        <p:spPr>
          <a:xfrm xmlns:a="http://schemas.openxmlformats.org/drawingml/2006/main">
            <a:off x="647700" y="4000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203C55"/>
                </a:solidFill>
                <a:latin typeface="Bitstream Charter"/>
                <a:ea typeface="Bitstream Charter"/>
                <a:cs typeface="Bitstream Charter"/>
              </a:defRPr>
            </a:pPr>
            <a:r>
              <a:rPr sz="2550" b="1">
                <a:solidFill>
                  <a:srgbClr val="203C55"/>
                </a:solidFill>
                <a:latin typeface="Bitstream Charter"/>
                <a:ea typeface="Bitstream Charter"/>
                <a:cs typeface="Bitstream Charter"/>
              </a:rPr>
              <a:t>Failure recovery and load handling</a:t>
            </a:r>
          </a:p>
        </p:txBody>
      </p:sp>
      <p:sp>
        <p:nvSpPr>
          <p:cNvPr id="3" name="">
            <a:extLst xmlns:a="http://schemas.openxmlformats.org/drawingml/2006/main">
              <a:ext uri="{FF2B5EF4-FFF2-40B4-BE49-F238E27FC236}">
                <a16:creationId xmlns:a16="http://schemas.microsoft.com/office/drawing/2014/main" id="{ABFA965E-7EEF-4938-A43A-5B75280464DD}"/>
              </a:ext>
            </a:extLst>
          </p:cNvPr>
          <p:cNvSpPr>
            <a:spLocks xmlns:a="http://schemas.openxmlformats.org/drawingml/2006/main" noGrp="1"/>
          </p:cNvSpPr>
          <p:nvPr/>
        </p:nvSpPr>
        <p:spPr>
          <a:xfrm xmlns:a="http://schemas.openxmlformats.org/drawingml/2006/main">
            <a:off x="647700" y="962025"/>
            <a:ext cx="1047750" cy="38100"/>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EAC2D8-2CC2-4CC4-912F-2508EF83C5EC}"/>
              </a:ext>
            </a:extLst>
          </p:cNvPr>
          <p:cNvSpPr>
            <a:spLocks xmlns:a="http://schemas.openxmlformats.org/drawingml/2006/main" noGrp="1"/>
          </p:cNvSpPr>
          <p:nvPr/>
        </p:nvSpPr>
        <p:spPr>
          <a:xfrm xmlns:a="http://schemas.openxmlformats.org/drawingml/2006/main">
            <a:off x="647700" y="64865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08296"/>
                </a:solidFill>
                <a:latin typeface="Bitstream Charter"/>
                <a:ea typeface="Bitstream Charter"/>
                <a:cs typeface="Bitstream Charter"/>
              </a:defRPr>
            </a:pPr>
            <a:r>
              <a:rPr sz="825" b="0">
                <a:solidFill>
                  <a:srgbClr val="708296"/>
                </a:solidFill>
                <a:latin typeface="Bitstream Charter"/>
                <a:ea typeface="Bitstream Charter"/>
                <a:cs typeface="Bitstream Charter"/>
              </a:rPr>
              <a:t>E-Commerce DevOps Platform   |   5 / 6</a:t>
            </a:r>
          </a:p>
        </p:txBody>
      </p:sp>
      <p:sp>
        <p:nvSpPr>
          <p:cNvPr id="5" name="">
            <a:extLst xmlns:a="http://schemas.openxmlformats.org/drawingml/2006/main">
              <a:ext uri="{FF2B5EF4-FFF2-40B4-BE49-F238E27FC236}">
                <a16:creationId xmlns:a16="http://schemas.microsoft.com/office/drawing/2014/main" id="{1E54607B-B90B-4693-A907-A7D2B9C44E6E}"/>
              </a:ext>
            </a:extLst>
          </p:cNvPr>
          <p:cNvSpPr>
            <a:spLocks xmlns:a="http://schemas.openxmlformats.org/drawingml/2006/main" noGrp="1"/>
          </p:cNvSpPr>
          <p:nvPr/>
        </p:nvSpPr>
        <p:spPr>
          <a:xfrm xmlns:a="http://schemas.openxmlformats.org/drawingml/2006/main">
            <a:off x="647700" y="1143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708296"/>
                </a:solidFill>
                <a:latin typeface="Bitstream Charter"/>
                <a:ea typeface="Bitstream Charter"/>
                <a:cs typeface="Bitstream Charter"/>
              </a:defRPr>
            </a:pPr>
            <a:r>
              <a:rPr sz="1275" b="0">
                <a:solidFill>
                  <a:srgbClr val="708296"/>
                </a:solidFill>
                <a:latin typeface="Bitstream Charter"/>
                <a:ea typeface="Bitstream Charter"/>
                <a:cs typeface="Bitstream Charter"/>
              </a:rPr>
              <a:t>The platform was tested for both Pod recovery and increased Product-service traffic.</a:t>
            </a:r>
          </a:p>
        </p:txBody>
      </p:sp>
      <p:sp>
        <p:nvSpPr>
          <p:cNvPr id="6" name="">
            <a:extLst xmlns:a="http://schemas.openxmlformats.org/drawingml/2006/main">
              <a:ext uri="{FF2B5EF4-FFF2-40B4-BE49-F238E27FC236}">
                <a16:creationId xmlns:a16="http://schemas.microsoft.com/office/drawing/2014/main" id="{3D900D1A-A9D0-4951-BE9D-A391318E3313}"/>
              </a:ext>
            </a:extLst>
          </p:cNvPr>
          <p:cNvSpPr>
            <a:spLocks xmlns:a="http://schemas.openxmlformats.org/drawingml/2006/main" noGrp="1"/>
          </p:cNvSpPr>
          <p:nvPr/>
        </p:nvSpPr>
        <p:spPr>
          <a:xfrm xmlns:a="http://schemas.openxmlformats.org/drawingml/2006/main">
            <a:off x="647700" y="1438275"/>
            <a:ext cx="4857750" cy="400050"/>
          </a:xfrm>
          <a:prstGeom xmlns:a="http://schemas.openxmlformats.org/drawingml/2006/main" prst="rect">
            <a:avLst/>
          </a:prstGeom>
          <a:solidFill xmlns:a="http://schemas.openxmlformats.org/drawingml/2006/main">
            <a:srgbClr val="EEF4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6B35289-341E-427A-8758-164EAA64EBF9}"/>
              </a:ext>
            </a:extLst>
          </p:cNvPr>
          <p:cNvSpPr>
            <a:spLocks xmlns:a="http://schemas.openxmlformats.org/drawingml/2006/main" noGrp="1"/>
          </p:cNvSpPr>
          <p:nvPr/>
        </p:nvSpPr>
        <p:spPr>
          <a:xfrm xmlns:a="http://schemas.openxmlformats.org/drawingml/2006/main">
            <a:off x="838200" y="1524000"/>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03C55"/>
                </a:solidFill>
                <a:latin typeface="Bitstream Charter"/>
                <a:ea typeface="Bitstream Charter"/>
                <a:cs typeface="Bitstream Charter"/>
              </a:defRPr>
            </a:pPr>
            <a:r>
              <a:rPr sz="1425" b="1">
                <a:solidFill>
                  <a:srgbClr val="203C55"/>
                </a:solidFill>
                <a:latin typeface="Bitstream Charter"/>
                <a:ea typeface="Bitstream Charter"/>
                <a:cs typeface="Bitstream Charter"/>
              </a:rPr>
              <a:t>Failure recovery</a:t>
            </a:r>
          </a:p>
        </p:txBody>
      </p:sp>
      <p:sp>
        <p:nvSpPr>
          <p:cNvPr id="8" name="">
            <a:extLst xmlns:a="http://schemas.openxmlformats.org/drawingml/2006/main">
              <a:ext uri="{FF2B5EF4-FFF2-40B4-BE49-F238E27FC236}">
                <a16:creationId xmlns:a16="http://schemas.microsoft.com/office/drawing/2014/main" id="{C8AA6433-0F2D-4ACE-A0CA-5C53B6ACE172}"/>
              </a:ext>
            </a:extLst>
          </p:cNvPr>
          <p:cNvSpPr>
            <a:spLocks xmlns:a="http://schemas.openxmlformats.org/drawingml/2006/main" noGrp="1"/>
          </p:cNvSpPr>
          <p:nvPr/>
        </p:nvSpPr>
        <p:spPr>
          <a:xfrm xmlns:a="http://schemas.openxmlformats.org/drawingml/2006/main">
            <a:off x="6686550" y="1438275"/>
            <a:ext cx="4857750" cy="400050"/>
          </a:xfrm>
          <a:prstGeom xmlns:a="http://schemas.openxmlformats.org/drawingml/2006/main" prst="rect">
            <a:avLst/>
          </a:prstGeom>
          <a:solidFill xmlns:a="http://schemas.openxmlformats.org/drawingml/2006/main">
            <a:srgbClr val="EFF7F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2F3DE02-A659-4714-B721-F4BF2C0D52D6}"/>
              </a:ext>
            </a:extLst>
          </p:cNvPr>
          <p:cNvSpPr>
            <a:spLocks xmlns:a="http://schemas.openxmlformats.org/drawingml/2006/main" noGrp="1"/>
          </p:cNvSpPr>
          <p:nvPr/>
        </p:nvSpPr>
        <p:spPr>
          <a:xfrm xmlns:a="http://schemas.openxmlformats.org/drawingml/2006/main">
            <a:off x="6877050" y="1524000"/>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1">
                <a:solidFill>
                  <a:srgbClr val="203C55"/>
                </a:solidFill>
                <a:latin typeface="Bitstream Charter"/>
                <a:ea typeface="Bitstream Charter"/>
                <a:cs typeface="Bitstream Charter"/>
              </a:defRPr>
            </a:pPr>
            <a:r>
              <a:rPr sz="1425" b="1">
                <a:solidFill>
                  <a:srgbClr val="203C55"/>
                </a:solidFill>
                <a:latin typeface="Bitstream Charter"/>
                <a:ea typeface="Bitstream Charter"/>
                <a:cs typeface="Bitstream Charter"/>
              </a:rPr>
              <a:t>HPA load test</a:t>
            </a:r>
          </a:p>
        </p:txBody>
      </p:sp>
      <p:sp>
        <p:nvSpPr>
          <p:cNvPr id="10" name="">
            <a:extLst xmlns:a="http://schemas.openxmlformats.org/drawingml/2006/main">
              <a:ext uri="{FF2B5EF4-FFF2-40B4-BE49-F238E27FC236}">
                <a16:creationId xmlns:a16="http://schemas.microsoft.com/office/drawing/2014/main" id="{9FEF75C0-1825-4854-85B6-4D8F5B7F2CBD}"/>
              </a:ext>
            </a:extLst>
          </p:cNvPr>
          <p:cNvSpPr>
            <a:spLocks xmlns:a="http://schemas.openxmlformats.org/drawingml/2006/main" noGrp="1"/>
          </p:cNvSpPr>
          <p:nvPr/>
        </p:nvSpPr>
        <p:spPr>
          <a:xfrm xmlns:a="http://schemas.openxmlformats.org/drawingml/2006/main">
            <a:off x="838200" y="219075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1</a:t>
            </a:r>
          </a:p>
        </p:txBody>
      </p:sp>
      <p:sp>
        <p:nvSpPr>
          <p:cNvPr id="11" name="">
            <a:extLst xmlns:a="http://schemas.openxmlformats.org/drawingml/2006/main">
              <a:ext uri="{FF2B5EF4-FFF2-40B4-BE49-F238E27FC236}">
                <a16:creationId xmlns:a16="http://schemas.microsoft.com/office/drawing/2014/main" id="{82DF9794-A068-4ED7-9BA7-5F5563D7C464}"/>
              </a:ext>
            </a:extLst>
          </p:cNvPr>
          <p:cNvSpPr>
            <a:spLocks xmlns:a="http://schemas.openxmlformats.org/drawingml/2006/main" noGrp="1"/>
          </p:cNvSpPr>
          <p:nvPr/>
        </p:nvSpPr>
        <p:spPr>
          <a:xfrm xmlns:a="http://schemas.openxmlformats.org/drawingml/2006/main">
            <a:off x="1276350" y="218122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Health checks</a:t>
            </a:r>
          </a:p>
        </p:txBody>
      </p:sp>
      <p:sp>
        <p:nvSpPr>
          <p:cNvPr id="12" name="">
            <a:extLst xmlns:a="http://schemas.openxmlformats.org/drawingml/2006/main">
              <a:ext uri="{FF2B5EF4-FFF2-40B4-BE49-F238E27FC236}">
                <a16:creationId xmlns:a16="http://schemas.microsoft.com/office/drawing/2014/main" id="{B3FAAB80-E2DE-41A9-9263-61B1668961D3}"/>
              </a:ext>
            </a:extLst>
          </p:cNvPr>
          <p:cNvSpPr>
            <a:spLocks xmlns:a="http://schemas.openxmlformats.org/drawingml/2006/main" noGrp="1"/>
          </p:cNvSpPr>
          <p:nvPr/>
        </p:nvSpPr>
        <p:spPr>
          <a:xfrm xmlns:a="http://schemas.openxmlformats.org/drawingml/2006/main">
            <a:off x="1276350" y="24098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Readiness starts after 5 seconds; liveness starts after 15 seconds.</a:t>
            </a:r>
          </a:p>
        </p:txBody>
      </p:sp>
      <p:sp>
        <p:nvSpPr>
          <p:cNvPr id="13" name="">
            <a:extLst xmlns:a="http://schemas.openxmlformats.org/drawingml/2006/main">
              <a:ext uri="{FF2B5EF4-FFF2-40B4-BE49-F238E27FC236}">
                <a16:creationId xmlns:a16="http://schemas.microsoft.com/office/drawing/2014/main" id="{9488EB41-A897-4A7C-A917-B0F9AA1AF0B4}"/>
              </a:ext>
            </a:extLst>
          </p:cNvPr>
          <p:cNvSpPr>
            <a:spLocks xmlns:a="http://schemas.openxmlformats.org/drawingml/2006/main" noGrp="1"/>
          </p:cNvSpPr>
          <p:nvPr/>
        </p:nvSpPr>
        <p:spPr>
          <a:xfrm xmlns:a="http://schemas.openxmlformats.org/drawingml/2006/main">
            <a:off x="838200" y="314325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2</a:t>
            </a:r>
          </a:p>
        </p:txBody>
      </p:sp>
      <p:sp>
        <p:nvSpPr>
          <p:cNvPr id="14" name="">
            <a:extLst xmlns:a="http://schemas.openxmlformats.org/drawingml/2006/main">
              <a:ext uri="{FF2B5EF4-FFF2-40B4-BE49-F238E27FC236}">
                <a16:creationId xmlns:a16="http://schemas.microsoft.com/office/drawing/2014/main" id="{CB0C3BC5-531D-4D3A-B69E-5E12F8ADAA9B}"/>
              </a:ext>
            </a:extLst>
          </p:cNvPr>
          <p:cNvSpPr>
            <a:spLocks xmlns:a="http://schemas.openxmlformats.org/drawingml/2006/main" noGrp="1"/>
          </p:cNvSpPr>
          <p:nvPr/>
        </p:nvSpPr>
        <p:spPr>
          <a:xfrm xmlns:a="http://schemas.openxmlformats.org/drawingml/2006/main">
            <a:off x="1276350" y="313372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Resource controls</a:t>
            </a:r>
          </a:p>
        </p:txBody>
      </p:sp>
      <p:sp>
        <p:nvSpPr>
          <p:cNvPr id="15" name="">
            <a:extLst xmlns:a="http://schemas.openxmlformats.org/drawingml/2006/main">
              <a:ext uri="{FF2B5EF4-FFF2-40B4-BE49-F238E27FC236}">
                <a16:creationId xmlns:a16="http://schemas.microsoft.com/office/drawing/2014/main" id="{67C32E4F-D977-47A8-B709-9C25E2BF1F22}"/>
              </a:ext>
            </a:extLst>
          </p:cNvPr>
          <p:cNvSpPr>
            <a:spLocks xmlns:a="http://schemas.openxmlformats.org/drawingml/2006/main" noGrp="1"/>
          </p:cNvSpPr>
          <p:nvPr/>
        </p:nvSpPr>
        <p:spPr>
          <a:xfrm xmlns:a="http://schemas.openxmlformats.org/drawingml/2006/main">
            <a:off x="1276350" y="33623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Each service requests 100m CPU and 128Mi memory, with defined limits.</a:t>
            </a:r>
          </a:p>
        </p:txBody>
      </p:sp>
      <p:sp>
        <p:nvSpPr>
          <p:cNvPr id="16" name="">
            <a:extLst xmlns:a="http://schemas.openxmlformats.org/drawingml/2006/main">
              <a:ext uri="{FF2B5EF4-FFF2-40B4-BE49-F238E27FC236}">
                <a16:creationId xmlns:a16="http://schemas.microsoft.com/office/drawing/2014/main" id="{85D41F6E-7B02-451F-A682-EEDB50961F22}"/>
              </a:ext>
            </a:extLst>
          </p:cNvPr>
          <p:cNvSpPr>
            <a:spLocks xmlns:a="http://schemas.openxmlformats.org/drawingml/2006/main" noGrp="1"/>
          </p:cNvSpPr>
          <p:nvPr/>
        </p:nvSpPr>
        <p:spPr>
          <a:xfrm xmlns:a="http://schemas.openxmlformats.org/drawingml/2006/main">
            <a:off x="838200" y="409575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3</a:t>
            </a:r>
          </a:p>
        </p:txBody>
      </p:sp>
      <p:sp>
        <p:nvSpPr>
          <p:cNvPr id="17" name="">
            <a:extLst xmlns:a="http://schemas.openxmlformats.org/drawingml/2006/main">
              <a:ext uri="{FF2B5EF4-FFF2-40B4-BE49-F238E27FC236}">
                <a16:creationId xmlns:a16="http://schemas.microsoft.com/office/drawing/2014/main" id="{9E988B29-8DC3-4A0A-9A46-48D43CAB16E0}"/>
              </a:ext>
            </a:extLst>
          </p:cNvPr>
          <p:cNvSpPr>
            <a:spLocks xmlns:a="http://schemas.openxmlformats.org/drawingml/2006/main" noGrp="1"/>
          </p:cNvSpPr>
          <p:nvPr/>
        </p:nvSpPr>
        <p:spPr>
          <a:xfrm xmlns:a="http://schemas.openxmlformats.org/drawingml/2006/main">
            <a:off x="1276350" y="408622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Pod self-healing</a:t>
            </a:r>
          </a:p>
        </p:txBody>
      </p:sp>
      <p:sp>
        <p:nvSpPr>
          <p:cNvPr id="18" name="">
            <a:extLst xmlns:a="http://schemas.openxmlformats.org/drawingml/2006/main">
              <a:ext uri="{FF2B5EF4-FFF2-40B4-BE49-F238E27FC236}">
                <a16:creationId xmlns:a16="http://schemas.microsoft.com/office/drawing/2014/main" id="{15A117DE-5B60-4A8A-914E-5929523DEFFC}"/>
              </a:ext>
            </a:extLst>
          </p:cNvPr>
          <p:cNvSpPr>
            <a:spLocks xmlns:a="http://schemas.openxmlformats.org/drawingml/2006/main" noGrp="1"/>
          </p:cNvSpPr>
          <p:nvPr/>
        </p:nvSpPr>
        <p:spPr>
          <a:xfrm xmlns:a="http://schemas.openxmlformats.org/drawingml/2006/main">
            <a:off x="1276350" y="43148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Deleting one Product Pod causes the Deployment controller to create a replacement.</a:t>
            </a:r>
          </a:p>
        </p:txBody>
      </p:sp>
      <p:sp>
        <p:nvSpPr>
          <p:cNvPr id="19" name="">
            <a:extLst xmlns:a="http://schemas.openxmlformats.org/drawingml/2006/main">
              <a:ext uri="{FF2B5EF4-FFF2-40B4-BE49-F238E27FC236}">
                <a16:creationId xmlns:a16="http://schemas.microsoft.com/office/drawing/2014/main" id="{77B486C9-41AB-4BDC-88CD-E51ECECA9254}"/>
              </a:ext>
            </a:extLst>
          </p:cNvPr>
          <p:cNvSpPr>
            <a:spLocks xmlns:a="http://schemas.openxmlformats.org/drawingml/2006/main" noGrp="1"/>
          </p:cNvSpPr>
          <p:nvPr/>
        </p:nvSpPr>
        <p:spPr>
          <a:xfrm xmlns:a="http://schemas.openxmlformats.org/drawingml/2006/main">
            <a:off x="7067550" y="2238375"/>
            <a:ext cx="80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300" b="1">
                <a:solidFill>
                  <a:srgbClr val="4B93A6"/>
                </a:solidFill>
                <a:latin typeface="Bitstream Charter"/>
                <a:ea typeface="Bitstream Charter"/>
                <a:cs typeface="Bitstream Charter"/>
              </a:defRPr>
            </a:pPr>
            <a:r>
              <a:rPr sz="3300" b="1">
                <a:solidFill>
                  <a:srgbClr val="4B93A6"/>
                </a:solidFill>
                <a:latin typeface="Bitstream Charter"/>
                <a:ea typeface="Bitstream Charter"/>
                <a:cs typeface="Bitstream Charter"/>
              </a:rPr>
              <a:t>1</a:t>
            </a:r>
          </a:p>
        </p:txBody>
      </p:sp>
      <p:sp>
        <p:nvSpPr>
          <p:cNvPr id="20" name="">
            <a:extLst xmlns:a="http://schemas.openxmlformats.org/drawingml/2006/main">
              <a:ext uri="{FF2B5EF4-FFF2-40B4-BE49-F238E27FC236}">
                <a16:creationId xmlns:a16="http://schemas.microsoft.com/office/drawing/2014/main" id="{E8D6AC32-7950-4464-8B7F-49A11DC88DA9}"/>
              </a:ext>
            </a:extLst>
          </p:cNvPr>
          <p:cNvSpPr>
            <a:spLocks xmlns:a="http://schemas.openxmlformats.org/drawingml/2006/main" noGrp="1"/>
          </p:cNvSpPr>
          <p:nvPr/>
        </p:nvSpPr>
        <p:spPr>
          <a:xfrm xmlns:a="http://schemas.openxmlformats.org/drawingml/2006/main">
            <a:off x="8382000" y="2305050"/>
            <a:ext cx="147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203C55"/>
                </a:solidFill>
                <a:latin typeface="Bitstream Charter"/>
                <a:ea typeface="Bitstream Charter"/>
                <a:cs typeface="Bitstream Charter"/>
              </a:defRPr>
            </a:pPr>
            <a:r>
              <a:rPr sz="1800" b="1">
                <a:solidFill>
                  <a:srgbClr val="203C55"/>
                </a:solidFill>
                <a:latin typeface="Bitstream Charter"/>
                <a:ea typeface="Bitstream Charter"/>
                <a:cs typeface="Bitstream Charter"/>
              </a:rPr>
              <a:t>60% CPU</a:t>
            </a:r>
          </a:p>
        </p:txBody>
      </p:sp>
      <p:sp>
        <p:nvSpPr>
          <p:cNvPr id="21" name="">
            <a:extLst xmlns:a="http://schemas.openxmlformats.org/drawingml/2006/main">
              <a:ext uri="{FF2B5EF4-FFF2-40B4-BE49-F238E27FC236}">
                <a16:creationId xmlns:a16="http://schemas.microsoft.com/office/drawing/2014/main" id="{C85D7668-7CFE-4314-9F4F-D5E7BE6C5528}"/>
              </a:ext>
            </a:extLst>
          </p:cNvPr>
          <p:cNvSpPr>
            <a:spLocks xmlns:a="http://schemas.openxmlformats.org/drawingml/2006/main" noGrp="1"/>
          </p:cNvSpPr>
          <p:nvPr/>
        </p:nvSpPr>
        <p:spPr>
          <a:xfrm xmlns:a="http://schemas.openxmlformats.org/drawingml/2006/main">
            <a:off x="10287000" y="2238375"/>
            <a:ext cx="80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3300" b="1">
                <a:solidFill>
                  <a:srgbClr val="4B93A6"/>
                </a:solidFill>
                <a:latin typeface="Bitstream Charter"/>
                <a:ea typeface="Bitstream Charter"/>
                <a:cs typeface="Bitstream Charter"/>
              </a:defRPr>
            </a:pPr>
            <a:r>
              <a:rPr sz="3300" b="1">
                <a:solidFill>
                  <a:srgbClr val="4B93A6"/>
                </a:solidFill>
                <a:latin typeface="Bitstream Charter"/>
                <a:ea typeface="Bitstream Charter"/>
                <a:cs typeface="Bitstream Charter"/>
              </a:rPr>
              <a:t>3</a:t>
            </a:r>
          </a:p>
        </p:txBody>
      </p:sp>
      <p:sp>
        <p:nvSpPr>
          <p:cNvPr id="22" name="">
            <a:extLst xmlns:a="http://schemas.openxmlformats.org/drawingml/2006/main">
              <a:ext uri="{FF2B5EF4-FFF2-40B4-BE49-F238E27FC236}">
                <a16:creationId xmlns:a16="http://schemas.microsoft.com/office/drawing/2014/main" id="{7875917D-FEA6-4F82-A581-8661B82BAEF4}"/>
              </a:ext>
            </a:extLst>
          </p:cNvPr>
          <p:cNvSpPr>
            <a:spLocks xmlns:a="http://schemas.openxmlformats.org/drawingml/2006/main" noGrp="1"/>
          </p:cNvSpPr>
          <p:nvPr/>
        </p:nvSpPr>
        <p:spPr>
          <a:xfrm xmlns:a="http://schemas.openxmlformats.org/drawingml/2006/main">
            <a:off x="6877050" y="28194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708296"/>
                </a:solidFill>
                <a:latin typeface="Bitstream Charter"/>
                <a:ea typeface="Bitstream Charter"/>
                <a:cs typeface="Bitstream Charter"/>
              </a:defRPr>
            </a:pPr>
            <a:r>
              <a:rPr sz="1125" b="0">
                <a:solidFill>
                  <a:srgbClr val="708296"/>
                </a:solidFill>
                <a:latin typeface="Bitstream Charter"/>
                <a:ea typeface="Bitstream Charter"/>
                <a:cs typeface="Bitstream Charter"/>
              </a:rPr>
              <a:t>minimum Pods</a:t>
            </a:r>
          </a:p>
        </p:txBody>
      </p:sp>
      <p:sp>
        <p:nvSpPr>
          <p:cNvPr id="23" name="">
            <a:extLst xmlns:a="http://schemas.openxmlformats.org/drawingml/2006/main">
              <a:ext uri="{FF2B5EF4-FFF2-40B4-BE49-F238E27FC236}">
                <a16:creationId xmlns:a16="http://schemas.microsoft.com/office/drawing/2014/main" id="{244F4A69-8641-41DA-8CCA-E2B1B4CD0A35}"/>
              </a:ext>
            </a:extLst>
          </p:cNvPr>
          <p:cNvSpPr>
            <a:spLocks xmlns:a="http://schemas.openxmlformats.org/drawingml/2006/main" noGrp="1"/>
          </p:cNvSpPr>
          <p:nvPr/>
        </p:nvSpPr>
        <p:spPr>
          <a:xfrm xmlns:a="http://schemas.openxmlformats.org/drawingml/2006/main">
            <a:off x="8382000" y="2819400"/>
            <a:ext cx="1476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708296"/>
                </a:solidFill>
                <a:latin typeface="Bitstream Charter"/>
                <a:ea typeface="Bitstream Charter"/>
                <a:cs typeface="Bitstream Charter"/>
              </a:defRPr>
            </a:pPr>
            <a:r>
              <a:rPr sz="1125" b="0">
                <a:solidFill>
                  <a:srgbClr val="708296"/>
                </a:solidFill>
                <a:latin typeface="Bitstream Charter"/>
                <a:ea typeface="Bitstream Charter"/>
                <a:cs typeface="Bitstream Charter"/>
              </a:rPr>
              <a:t>HPA target</a:t>
            </a:r>
          </a:p>
        </p:txBody>
      </p:sp>
      <p:sp>
        <p:nvSpPr>
          <p:cNvPr id="24" name="">
            <a:extLst xmlns:a="http://schemas.openxmlformats.org/drawingml/2006/main">
              <a:ext uri="{FF2B5EF4-FFF2-40B4-BE49-F238E27FC236}">
                <a16:creationId xmlns:a16="http://schemas.microsoft.com/office/drawing/2014/main" id="{8A243914-22B9-4738-BA7A-226E443DC139}"/>
              </a:ext>
            </a:extLst>
          </p:cNvPr>
          <p:cNvSpPr>
            <a:spLocks xmlns:a="http://schemas.openxmlformats.org/drawingml/2006/main" noGrp="1"/>
          </p:cNvSpPr>
          <p:nvPr/>
        </p:nvSpPr>
        <p:spPr>
          <a:xfrm xmlns:a="http://schemas.openxmlformats.org/drawingml/2006/main">
            <a:off x="10096500" y="28194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125" b="0">
                <a:solidFill>
                  <a:srgbClr val="708296"/>
                </a:solidFill>
                <a:latin typeface="Bitstream Charter"/>
                <a:ea typeface="Bitstream Charter"/>
                <a:cs typeface="Bitstream Charter"/>
              </a:defRPr>
            </a:pPr>
            <a:r>
              <a:rPr sz="1125" b="0">
                <a:solidFill>
                  <a:srgbClr val="708296"/>
                </a:solidFill>
                <a:latin typeface="Bitstream Charter"/>
                <a:ea typeface="Bitstream Charter"/>
                <a:cs typeface="Bitstream Charter"/>
              </a:rPr>
              <a:t>maximum Pods</a:t>
            </a:r>
          </a:p>
        </p:txBody>
      </p:sp>
      <p:sp>
        <p:nvSpPr>
          <p:cNvPr id="25" name="">
            <a:extLst xmlns:a="http://schemas.openxmlformats.org/drawingml/2006/main">
              <a:ext uri="{FF2B5EF4-FFF2-40B4-BE49-F238E27FC236}">
                <a16:creationId xmlns:a16="http://schemas.microsoft.com/office/drawing/2014/main" id="{6D3F7658-6E9B-443F-AD0D-8A0BB2045D70}"/>
              </a:ext>
            </a:extLst>
          </p:cNvPr>
          <p:cNvSpPr>
            <a:spLocks xmlns:a="http://schemas.openxmlformats.org/drawingml/2006/main" noGrp="1"/>
          </p:cNvSpPr>
          <p:nvPr/>
        </p:nvSpPr>
        <p:spPr>
          <a:xfrm xmlns:a="http://schemas.openxmlformats.org/drawingml/2006/main">
            <a:off x="7162800" y="3276600"/>
            <a:ext cx="3543300" cy="28575"/>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D6D90B1-DAE4-4E7D-B992-0736167FD4E7}"/>
              </a:ext>
            </a:extLst>
          </p:cNvPr>
          <p:cNvSpPr>
            <a:spLocks xmlns:a="http://schemas.openxmlformats.org/drawingml/2006/main" noGrp="1"/>
          </p:cNvSpPr>
          <p:nvPr/>
        </p:nvSpPr>
        <p:spPr>
          <a:xfrm xmlns:a="http://schemas.openxmlformats.org/drawingml/2006/main">
            <a:off x="6877050" y="3667125"/>
            <a:ext cx="4238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34495E"/>
                </a:solidFill>
                <a:latin typeface="Bitstream Charter"/>
                <a:ea typeface="Bitstream Charter"/>
                <a:cs typeface="Bitstream Charter"/>
              </a:defRPr>
            </a:pPr>
            <a:r>
              <a:rPr sz="1275" b="0">
                <a:solidFill>
                  <a:srgbClr val="34495E"/>
                </a:solidFill>
                <a:latin typeface="Bitstream Charter"/>
                <a:ea typeface="Bitstream Charter"/>
                <a:cs typeface="Bitstream Charter"/>
              </a:rPr>
              <a:t>A temporary BusyBox load generator called Product continuously. Product scaled from one to three Pods, then scaled down after load removal.</a:t>
            </a:r>
          </a:p>
        </p:txBody>
      </p:sp>
      <p:sp>
        <p:nvSpPr>
          <p:cNvPr id="27" name="">
            <a:extLst xmlns:a="http://schemas.openxmlformats.org/drawingml/2006/main">
              <a:ext uri="{FF2B5EF4-FFF2-40B4-BE49-F238E27FC236}">
                <a16:creationId xmlns:a16="http://schemas.microsoft.com/office/drawing/2014/main" id="{834CB791-F59C-4E19-B233-6F980DD08092}"/>
              </a:ext>
            </a:extLst>
          </p:cNvPr>
          <p:cNvSpPr>
            <a:spLocks xmlns:a="http://schemas.openxmlformats.org/drawingml/2006/main" noGrp="1"/>
          </p:cNvSpPr>
          <p:nvPr/>
        </p:nvSpPr>
        <p:spPr>
          <a:xfrm xmlns:a="http://schemas.openxmlformats.org/drawingml/2006/main">
            <a:off x="6877050" y="4762500"/>
            <a:ext cx="4238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708296"/>
                </a:solidFill>
                <a:latin typeface="Bitstream Charter"/>
                <a:ea typeface="Bitstream Charter"/>
                <a:cs typeface="Bitstream Charter"/>
              </a:defRPr>
            </a:pPr>
            <a:r>
              <a:rPr sz="1200" b="0">
                <a:solidFill>
                  <a:srgbClr val="708296"/>
                </a:solidFill>
                <a:latin typeface="Bitstream Charter"/>
                <a:ea typeface="Bitstream Charter"/>
                <a:cs typeface="Bitstream Charter"/>
              </a:rPr>
              <a:t>HPA scales Pods. Cluster Autoscaler or Karpenter would be the next step for worker-node scaling.</a:t>
            </a:r>
          </a:p>
        </p:txBody>
      </p:sp>
    </p:spTree>
    <p:extLst>
      <p:ext uri="{BB962C8B-B14F-4D97-AF65-F5344CB8AC3E}">
        <p14:creationId xmlns:p14="http://schemas.microsoft.com/office/powerpoint/2010/main" val="1203290697"/>
      </p:ext>
    </p:extLst>
  </p:cSld>
</p:sld>
</file>

<file path=ppt/slides/slide6.xml><?xml version="1.0" encoding="utf-8"?>
<p:sld xmlns:p="http://schemas.openxmlformats.org/presentationml/2006/main">
  <p:cSld>
    <p:bg>
      <p:bgPr>
        <a:solidFill xmlns:a="http://schemas.openxmlformats.org/drawingml/2006/main">
          <a:srgbClr val="F8FBF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C1EA95B-1B13-4CF1-83CA-1B1EBC79BF0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04D6DD-8485-4222-876B-CB5F736967F8}"/>
              </a:ext>
            </a:extLst>
          </p:cNvPr>
          <p:cNvSpPr>
            <a:spLocks xmlns:a="http://schemas.openxmlformats.org/drawingml/2006/main" noGrp="1"/>
          </p:cNvSpPr>
          <p:nvPr/>
        </p:nvSpPr>
        <p:spPr>
          <a:xfrm xmlns:a="http://schemas.openxmlformats.org/drawingml/2006/main">
            <a:off x="647700" y="4000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203C55"/>
                </a:solidFill>
                <a:latin typeface="Bitstream Charter"/>
                <a:ea typeface="Bitstream Charter"/>
                <a:cs typeface="Bitstream Charter"/>
              </a:defRPr>
            </a:pPr>
            <a:r>
              <a:rPr sz="2550" b="1">
                <a:solidFill>
                  <a:srgbClr val="203C55"/>
                </a:solidFill>
                <a:latin typeface="Bitstream Charter"/>
                <a:ea typeface="Bitstream Charter"/>
                <a:cs typeface="Bitstream Charter"/>
              </a:rPr>
              <a:t>Prioritized production roadmap</a:t>
            </a:r>
          </a:p>
        </p:txBody>
      </p:sp>
      <p:sp>
        <p:nvSpPr>
          <p:cNvPr id="3" name="">
            <a:extLst xmlns:a="http://schemas.openxmlformats.org/drawingml/2006/main">
              <a:ext uri="{FF2B5EF4-FFF2-40B4-BE49-F238E27FC236}">
                <a16:creationId xmlns:a16="http://schemas.microsoft.com/office/drawing/2014/main" id="{C6F7482E-310C-415D-9C10-FEDD6BF5F7C5}"/>
              </a:ext>
            </a:extLst>
          </p:cNvPr>
          <p:cNvSpPr>
            <a:spLocks xmlns:a="http://schemas.openxmlformats.org/drawingml/2006/main" noGrp="1"/>
          </p:cNvSpPr>
          <p:nvPr/>
        </p:nvSpPr>
        <p:spPr>
          <a:xfrm xmlns:a="http://schemas.openxmlformats.org/drawingml/2006/main">
            <a:off x="647700" y="962025"/>
            <a:ext cx="1047750" cy="38100"/>
          </a:xfrm>
          <a:prstGeom xmlns:a="http://schemas.openxmlformats.org/drawingml/2006/main" prst="rect">
            <a:avLst/>
          </a:prstGeom>
          <a:solidFill xmlns:a="http://schemas.openxmlformats.org/drawingml/2006/main">
            <a:srgbClr val="4B93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3C8C6E9-0BCD-40DC-8178-E1BCD5C15ECB}"/>
              </a:ext>
            </a:extLst>
          </p:cNvPr>
          <p:cNvSpPr>
            <a:spLocks xmlns:a="http://schemas.openxmlformats.org/drawingml/2006/main" noGrp="1"/>
          </p:cNvSpPr>
          <p:nvPr/>
        </p:nvSpPr>
        <p:spPr>
          <a:xfrm xmlns:a="http://schemas.openxmlformats.org/drawingml/2006/main">
            <a:off x="647700" y="6486525"/>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25" b="0">
                <a:solidFill>
                  <a:srgbClr val="708296"/>
                </a:solidFill>
                <a:latin typeface="Bitstream Charter"/>
                <a:ea typeface="Bitstream Charter"/>
                <a:cs typeface="Bitstream Charter"/>
              </a:defRPr>
            </a:pPr>
            <a:r>
              <a:rPr sz="825" b="0">
                <a:solidFill>
                  <a:srgbClr val="708296"/>
                </a:solidFill>
                <a:latin typeface="Bitstream Charter"/>
                <a:ea typeface="Bitstream Charter"/>
                <a:cs typeface="Bitstream Charter"/>
              </a:rPr>
              <a:t>E-Commerce DevOps Platform   |   6 / 6</a:t>
            </a:r>
          </a:p>
        </p:txBody>
      </p:sp>
      <p:sp>
        <p:nvSpPr>
          <p:cNvPr id="5" name="">
            <a:extLst xmlns:a="http://schemas.openxmlformats.org/drawingml/2006/main">
              <a:ext uri="{FF2B5EF4-FFF2-40B4-BE49-F238E27FC236}">
                <a16:creationId xmlns:a16="http://schemas.microsoft.com/office/drawing/2014/main" id="{53C8740D-F8A2-4B87-AD93-36A3D4EE3F5D}"/>
              </a:ext>
            </a:extLst>
          </p:cNvPr>
          <p:cNvSpPr>
            <a:spLocks xmlns:a="http://schemas.openxmlformats.org/drawingml/2006/main" noGrp="1"/>
          </p:cNvSpPr>
          <p:nvPr/>
        </p:nvSpPr>
        <p:spPr>
          <a:xfrm xmlns:a="http://schemas.openxmlformats.org/drawingml/2006/main">
            <a:off x="647700" y="11430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0">
                <a:solidFill>
                  <a:srgbClr val="708296"/>
                </a:solidFill>
                <a:latin typeface="Bitstream Charter"/>
                <a:ea typeface="Bitstream Charter"/>
                <a:cs typeface="Bitstream Charter"/>
              </a:defRPr>
            </a:pPr>
            <a:r>
              <a:rPr sz="1275" b="0">
                <a:solidFill>
                  <a:srgbClr val="708296"/>
                </a:solidFill>
                <a:latin typeface="Bitstream Charter"/>
                <a:ea typeface="Bitstream Charter"/>
                <a:cs typeface="Bitstream Charter"/>
              </a:rPr>
              <a:t>The platform is a complete working demo. These are the next improvements for a production environment.</a:t>
            </a:r>
          </a:p>
        </p:txBody>
      </p:sp>
      <p:sp>
        <p:nvSpPr>
          <p:cNvPr id="6" name="">
            <a:extLst xmlns:a="http://schemas.openxmlformats.org/drawingml/2006/main">
              <a:ext uri="{FF2B5EF4-FFF2-40B4-BE49-F238E27FC236}">
                <a16:creationId xmlns:a16="http://schemas.microsoft.com/office/drawing/2014/main" id="{35171E46-20AE-4BFC-B920-6882308B2F3F}"/>
              </a:ext>
            </a:extLst>
          </p:cNvPr>
          <p:cNvSpPr>
            <a:spLocks xmlns:a="http://schemas.openxmlformats.org/drawingml/2006/main" noGrp="1"/>
          </p:cNvSpPr>
          <p:nvPr/>
        </p:nvSpPr>
        <p:spPr>
          <a:xfrm xmlns:a="http://schemas.openxmlformats.org/drawingml/2006/main">
            <a:off x="838200" y="180975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1</a:t>
            </a:r>
          </a:p>
        </p:txBody>
      </p:sp>
      <p:sp>
        <p:nvSpPr>
          <p:cNvPr id="7" name="">
            <a:extLst xmlns:a="http://schemas.openxmlformats.org/drawingml/2006/main">
              <a:ext uri="{FF2B5EF4-FFF2-40B4-BE49-F238E27FC236}">
                <a16:creationId xmlns:a16="http://schemas.microsoft.com/office/drawing/2014/main" id="{68F48C52-DEDB-4E27-9451-7E383F9158BC}"/>
              </a:ext>
            </a:extLst>
          </p:cNvPr>
          <p:cNvSpPr>
            <a:spLocks xmlns:a="http://schemas.openxmlformats.org/drawingml/2006/main" noGrp="1"/>
          </p:cNvSpPr>
          <p:nvPr/>
        </p:nvSpPr>
        <p:spPr>
          <a:xfrm xmlns:a="http://schemas.openxmlformats.org/drawingml/2006/main">
            <a:off x="1276350" y="180022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Infrastructure repeatability</a:t>
            </a:r>
          </a:p>
        </p:txBody>
      </p:sp>
      <p:sp>
        <p:nvSpPr>
          <p:cNvPr id="8" name="">
            <a:extLst xmlns:a="http://schemas.openxmlformats.org/drawingml/2006/main">
              <a:ext uri="{FF2B5EF4-FFF2-40B4-BE49-F238E27FC236}">
                <a16:creationId xmlns:a16="http://schemas.microsoft.com/office/drawing/2014/main" id="{64FB70D4-A093-4556-AFC2-59DF5423AC73}"/>
              </a:ext>
            </a:extLst>
          </p:cNvPr>
          <p:cNvSpPr>
            <a:spLocks xmlns:a="http://schemas.openxmlformats.org/drawingml/2006/main" noGrp="1"/>
          </p:cNvSpPr>
          <p:nvPr/>
        </p:nvSpPr>
        <p:spPr>
          <a:xfrm xmlns:a="http://schemas.openxmlformats.org/drawingml/2006/main">
            <a:off x="1276350" y="20288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Bootstrap the Terraform state backend, remove hard-coded IAM values, and manage CloudWatch configuration through Terraform.</a:t>
            </a:r>
          </a:p>
        </p:txBody>
      </p:sp>
      <p:sp>
        <p:nvSpPr>
          <p:cNvPr id="9" name="">
            <a:extLst xmlns:a="http://schemas.openxmlformats.org/drawingml/2006/main">
              <a:ext uri="{FF2B5EF4-FFF2-40B4-BE49-F238E27FC236}">
                <a16:creationId xmlns:a16="http://schemas.microsoft.com/office/drawing/2014/main" id="{6271A9BE-9BE7-407C-BD9A-EA8A97D412F4}"/>
              </a:ext>
            </a:extLst>
          </p:cNvPr>
          <p:cNvSpPr>
            <a:spLocks xmlns:a="http://schemas.openxmlformats.org/drawingml/2006/main" noGrp="1"/>
          </p:cNvSpPr>
          <p:nvPr/>
        </p:nvSpPr>
        <p:spPr>
          <a:xfrm xmlns:a="http://schemas.openxmlformats.org/drawingml/2006/main">
            <a:off x="838200" y="272415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2</a:t>
            </a:r>
          </a:p>
        </p:txBody>
      </p:sp>
      <p:sp>
        <p:nvSpPr>
          <p:cNvPr id="10" name="">
            <a:extLst xmlns:a="http://schemas.openxmlformats.org/drawingml/2006/main">
              <a:ext uri="{FF2B5EF4-FFF2-40B4-BE49-F238E27FC236}">
                <a16:creationId xmlns:a16="http://schemas.microsoft.com/office/drawing/2014/main" id="{0F36BEC8-F7CD-4BFE-9DAF-77FCE314E21A}"/>
              </a:ext>
            </a:extLst>
          </p:cNvPr>
          <p:cNvSpPr>
            <a:spLocks xmlns:a="http://schemas.openxmlformats.org/drawingml/2006/main" noGrp="1"/>
          </p:cNvSpPr>
          <p:nvPr/>
        </p:nvSpPr>
        <p:spPr>
          <a:xfrm xmlns:a="http://schemas.openxmlformats.org/drawingml/2006/main">
            <a:off x="1276350" y="271462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Security hardening</a:t>
            </a:r>
          </a:p>
        </p:txBody>
      </p:sp>
      <p:sp>
        <p:nvSpPr>
          <p:cNvPr id="11" name="">
            <a:extLst xmlns:a="http://schemas.openxmlformats.org/drawingml/2006/main">
              <a:ext uri="{FF2B5EF4-FFF2-40B4-BE49-F238E27FC236}">
                <a16:creationId xmlns:a16="http://schemas.microsoft.com/office/drawing/2014/main" id="{8F3C2C38-4674-44F4-81CF-E7056CB72928}"/>
              </a:ext>
            </a:extLst>
          </p:cNvPr>
          <p:cNvSpPr>
            <a:spLocks xmlns:a="http://schemas.openxmlformats.org/drawingml/2006/main" noGrp="1"/>
          </p:cNvSpPr>
          <p:nvPr/>
        </p:nvSpPr>
        <p:spPr>
          <a:xfrm xmlns:a="http://schemas.openxmlformats.org/drawingml/2006/main">
            <a:off x="1276350" y="29432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Move worker nodes to private subnets and use AWS Secrets Manager with External Secrets.</a:t>
            </a:r>
          </a:p>
        </p:txBody>
      </p:sp>
      <p:sp>
        <p:nvSpPr>
          <p:cNvPr id="12" name="">
            <a:extLst xmlns:a="http://schemas.openxmlformats.org/drawingml/2006/main">
              <a:ext uri="{FF2B5EF4-FFF2-40B4-BE49-F238E27FC236}">
                <a16:creationId xmlns:a16="http://schemas.microsoft.com/office/drawing/2014/main" id="{3D6D6F62-D590-40A2-9C04-BA1A429580A3}"/>
              </a:ext>
            </a:extLst>
          </p:cNvPr>
          <p:cNvSpPr>
            <a:spLocks xmlns:a="http://schemas.openxmlformats.org/drawingml/2006/main" noGrp="1"/>
          </p:cNvSpPr>
          <p:nvPr/>
        </p:nvSpPr>
        <p:spPr>
          <a:xfrm xmlns:a="http://schemas.openxmlformats.org/drawingml/2006/main">
            <a:off x="838200" y="363855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3</a:t>
            </a:r>
          </a:p>
        </p:txBody>
      </p:sp>
      <p:sp>
        <p:nvSpPr>
          <p:cNvPr id="13" name="">
            <a:extLst xmlns:a="http://schemas.openxmlformats.org/drawingml/2006/main">
              <a:ext uri="{FF2B5EF4-FFF2-40B4-BE49-F238E27FC236}">
                <a16:creationId xmlns:a16="http://schemas.microsoft.com/office/drawing/2014/main" id="{2BBFB36C-460D-4A0C-9521-83BBDC666597}"/>
              </a:ext>
            </a:extLst>
          </p:cNvPr>
          <p:cNvSpPr>
            <a:spLocks xmlns:a="http://schemas.openxmlformats.org/drawingml/2006/main" noGrp="1"/>
          </p:cNvSpPr>
          <p:nvPr/>
        </p:nvSpPr>
        <p:spPr>
          <a:xfrm xmlns:a="http://schemas.openxmlformats.org/drawingml/2006/main">
            <a:off x="1276350" y="362902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Availability and capacity</a:t>
            </a:r>
          </a:p>
        </p:txBody>
      </p:sp>
      <p:sp>
        <p:nvSpPr>
          <p:cNvPr id="14" name="">
            <a:extLst xmlns:a="http://schemas.openxmlformats.org/drawingml/2006/main">
              <a:ext uri="{FF2B5EF4-FFF2-40B4-BE49-F238E27FC236}">
                <a16:creationId xmlns:a16="http://schemas.microsoft.com/office/drawing/2014/main" id="{812D51DA-CBD4-4759-A9D6-3E0F89DE4F10}"/>
              </a:ext>
            </a:extLst>
          </p:cNvPr>
          <p:cNvSpPr>
            <a:spLocks xmlns:a="http://schemas.openxmlformats.org/drawingml/2006/main" noGrp="1"/>
          </p:cNvSpPr>
          <p:nvPr/>
        </p:nvSpPr>
        <p:spPr>
          <a:xfrm xmlns:a="http://schemas.openxmlformats.org/drawingml/2006/main">
            <a:off x="1276350" y="38576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Add node autoscaling, Multi-AZ RDS, stronger backups, deletion protection, and disruption controls.</a:t>
            </a:r>
          </a:p>
        </p:txBody>
      </p:sp>
      <p:sp>
        <p:nvSpPr>
          <p:cNvPr id="15" name="">
            <a:extLst xmlns:a="http://schemas.openxmlformats.org/drawingml/2006/main">
              <a:ext uri="{FF2B5EF4-FFF2-40B4-BE49-F238E27FC236}">
                <a16:creationId xmlns:a16="http://schemas.microsoft.com/office/drawing/2014/main" id="{9E923989-FFD3-47E8-B8AF-6AB5DA4105F7}"/>
              </a:ext>
            </a:extLst>
          </p:cNvPr>
          <p:cNvSpPr>
            <a:spLocks xmlns:a="http://schemas.openxmlformats.org/drawingml/2006/main" noGrp="1"/>
          </p:cNvSpPr>
          <p:nvPr/>
        </p:nvSpPr>
        <p:spPr>
          <a:xfrm xmlns:a="http://schemas.openxmlformats.org/drawingml/2006/main">
            <a:off x="838200" y="4552950"/>
            <a:ext cx="285750" cy="285750"/>
          </a:xfrm>
          <a:prstGeom xmlns:a="http://schemas.openxmlformats.org/drawingml/2006/main" prst="ellipse">
            <a:avLst/>
          </a:prstGeom>
          <a:solidFill xmlns:a="http://schemas.openxmlformats.org/drawingml/2006/main">
            <a:srgbClr val="4B93A6"/>
          </a:solidFill>
          <a:ln xmlns:a="http://schemas.openxmlformats.org/drawingml/2006/main" w="0">
            <a:solidFill>
              <a:srgbClr val="4B93A6"/>
            </a:solidFill>
          </a:ln>
        </p:spPr>
        <p:txBody>
          <a:bodyPr xmlns:a="http://schemas.openxmlformats.org/drawingml/2006/main">
            <a:noAutofit/>
          </a:bodyPr>
          <a:lstStyle xmlns:a="http://schemas.openxmlformats.org/drawingml/2006/main"/>
          <a:p xmlns:a="http://schemas.openxmlformats.org/drawingml/2006/main">
            <a:pPr algn="ctr">
              <a:defRPr sz="1125" b="1">
                <a:solidFill>
                  <a:srgbClr val="FFFFFF"/>
                </a:solidFill>
                <a:latin typeface="Bitstream Charter"/>
                <a:ea typeface="Bitstream Charter"/>
                <a:cs typeface="Bitstream Charter"/>
              </a:defRPr>
            </a:pPr>
            <a:r>
              <a:rPr sz="1125" b="1">
                <a:solidFill>
                  <a:srgbClr val="FFFFFF"/>
                </a:solidFill>
                <a:latin typeface="Bitstream Charter"/>
                <a:ea typeface="Bitstream Charter"/>
                <a:cs typeface="Bitstream Charter"/>
              </a:rPr>
              <a:t>4</a:t>
            </a:r>
          </a:p>
        </p:txBody>
      </p:sp>
      <p:sp>
        <p:nvSpPr>
          <p:cNvPr id="16" name="">
            <a:extLst xmlns:a="http://schemas.openxmlformats.org/drawingml/2006/main">
              <a:ext uri="{FF2B5EF4-FFF2-40B4-BE49-F238E27FC236}">
                <a16:creationId xmlns:a16="http://schemas.microsoft.com/office/drawing/2014/main" id="{209FC21E-7744-4263-B08C-C17CC324ACF1}"/>
              </a:ext>
            </a:extLst>
          </p:cNvPr>
          <p:cNvSpPr>
            <a:spLocks xmlns:a="http://schemas.openxmlformats.org/drawingml/2006/main" noGrp="1"/>
          </p:cNvSpPr>
          <p:nvPr/>
        </p:nvSpPr>
        <p:spPr>
          <a:xfrm xmlns:a="http://schemas.openxmlformats.org/drawingml/2006/main">
            <a:off x="1276350" y="4543425"/>
            <a:ext cx="376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75" b="1">
                <a:solidFill>
                  <a:srgbClr val="203C55"/>
                </a:solidFill>
                <a:latin typeface="Bitstream Charter"/>
                <a:ea typeface="Bitstream Charter"/>
                <a:cs typeface="Bitstream Charter"/>
              </a:defRPr>
            </a:pPr>
            <a:r>
              <a:rPr sz="1275" b="1">
                <a:solidFill>
                  <a:srgbClr val="203C55"/>
                </a:solidFill>
                <a:latin typeface="Bitstream Charter"/>
                <a:ea typeface="Bitstream Charter"/>
                <a:cs typeface="Bitstream Charter"/>
              </a:rPr>
              <a:t>Operations and delivery</a:t>
            </a:r>
          </a:p>
        </p:txBody>
      </p:sp>
      <p:sp>
        <p:nvSpPr>
          <p:cNvPr id="17" name="">
            <a:extLst xmlns:a="http://schemas.openxmlformats.org/drawingml/2006/main">
              <a:ext uri="{FF2B5EF4-FFF2-40B4-BE49-F238E27FC236}">
                <a16:creationId xmlns:a16="http://schemas.microsoft.com/office/drawing/2014/main" id="{C8A4C334-634F-40DE-BD81-6F2DFAC333D2}"/>
              </a:ext>
            </a:extLst>
          </p:cNvPr>
          <p:cNvSpPr>
            <a:spLocks xmlns:a="http://schemas.openxmlformats.org/drawingml/2006/main" noGrp="1"/>
          </p:cNvSpPr>
          <p:nvPr/>
        </p:nvSpPr>
        <p:spPr>
          <a:xfrm xmlns:a="http://schemas.openxmlformats.org/drawingml/2006/main">
            <a:off x="1276350" y="47720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163" b="0">
                <a:solidFill>
                  <a:srgbClr val="34495E"/>
                </a:solidFill>
                <a:latin typeface="Bitstream Charter"/>
                <a:ea typeface="Bitstream Charter"/>
                <a:cs typeface="Bitstream Charter"/>
              </a:defRPr>
            </a:pPr>
            <a:r>
              <a:rPr sz="1163" b="0">
                <a:solidFill>
                  <a:srgbClr val="34495E"/>
                </a:solidFill>
                <a:latin typeface="Bitstream Charter"/>
                <a:ea typeface="Bitstream Charter"/>
                <a:cs typeface="Bitstream Charter"/>
              </a:rPr>
              <a:t>Add CloudWatch alarms, control-plane logs, pull-request gates, quality enforcement, rollback procedures, and environments.</a:t>
            </a:r>
          </a:p>
        </p:txBody>
      </p:sp>
      <p:sp>
        <p:nvSpPr>
          <p:cNvPr id="18" name="">
            <a:extLst xmlns:a="http://schemas.openxmlformats.org/drawingml/2006/main">
              <a:ext uri="{FF2B5EF4-FFF2-40B4-BE49-F238E27FC236}">
                <a16:creationId xmlns:a16="http://schemas.microsoft.com/office/drawing/2014/main" id="{F9A02436-555A-40D6-B211-E6B1F010A3C8}"/>
              </a:ext>
            </a:extLst>
          </p:cNvPr>
          <p:cNvSpPr>
            <a:spLocks xmlns:a="http://schemas.openxmlformats.org/drawingml/2006/main" noGrp="1"/>
          </p:cNvSpPr>
          <p:nvPr/>
        </p:nvSpPr>
        <p:spPr>
          <a:xfrm xmlns:a="http://schemas.openxmlformats.org/drawingml/2006/main">
            <a:off x="647700" y="5667375"/>
            <a:ext cx="10896600" cy="457200"/>
          </a:xfrm>
          <a:prstGeom xmlns:a="http://schemas.openxmlformats.org/drawingml/2006/main" prst="rect">
            <a:avLst/>
          </a:prstGeom>
          <a:solidFill xmlns:a="http://schemas.openxmlformats.org/drawingml/2006/main">
            <a:srgbClr val="E7F3F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A91A5CA-92E2-4D40-B14F-8C7F39A2ADCC}"/>
              </a:ext>
            </a:extLst>
          </p:cNvPr>
          <p:cNvSpPr>
            <a:spLocks xmlns:a="http://schemas.openxmlformats.org/drawingml/2006/main" noGrp="1"/>
          </p:cNvSpPr>
          <p:nvPr/>
        </p:nvSpPr>
        <p:spPr>
          <a:xfrm xmlns:a="http://schemas.openxmlformats.org/drawingml/2006/main">
            <a:off x="876300" y="5781675"/>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203C55"/>
                </a:solidFill>
                <a:latin typeface="Bitstream Charter"/>
                <a:ea typeface="Bitstream Charter"/>
                <a:cs typeface="Bitstream Charter"/>
              </a:defRPr>
            </a:pPr>
            <a:r>
              <a:rPr sz="1200" b="0">
                <a:solidFill>
                  <a:srgbClr val="203C55"/>
                </a:solidFill>
                <a:latin typeface="Bitstream Charter"/>
                <a:ea typeface="Bitstream Charter"/>
                <a:cs typeface="Bitstream Charter"/>
              </a:rPr>
              <a:t>Priority order: first make infrastructure repeatable, then improve security and availability, then mature monitoring and delivery controls.</a:t>
            </a:r>
          </a:p>
        </p:txBody>
      </p:sp>
    </p:spTree>
    <p:extLst>
      <p:ext uri="{BB962C8B-B14F-4D97-AF65-F5344CB8AC3E}">
        <p14:creationId xmlns:p14="http://schemas.microsoft.com/office/powerpoint/2010/main" val="10222611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2026-09-30T07:47:49.7890000Z</dcterms:created>
  <dcterms:modified xsi:type="dcterms:W3CDTF">2026-09-30T07:47:49.7890000Z</dcterms:modified>
</coreProperties>
</file>